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notesMasterIdLst>
    <p:notesMasterId r:id="rId11"/>
  </p:notesMasterIdLst>
  <p:sldIdLst>
    <p:sldId id="256" r:id="rId2"/>
    <p:sldId id="257" r:id="rId3"/>
    <p:sldId id="259" r:id="rId4"/>
    <p:sldId id="263" r:id="rId5"/>
    <p:sldId id="262" r:id="rId6"/>
    <p:sldId id="264" r:id="rId7"/>
    <p:sldId id="261" r:id="rId8"/>
    <p:sldId id="265" r:id="rId9"/>
    <p:sldId id="266" r:id="rId1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A6E80-ABBF-48CF-A751-F45A1A114EF8}" type="datetimeFigureOut">
              <a:rPr lang="pt-BR" smtClean="0"/>
              <a:t>09/12/2024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D31A4-69F9-45A7-8F63-EC87A2681A94}" type="slidenum">
              <a:rPr lang="pt-BR" smtClean="0"/>
              <a:t>‹nº›</a:t>
            </a:fld>
            <a:endParaRPr lang="pt-BR"/>
          </a:p>
        </p:txBody>
      </p:sp>
    </p:spTree>
    <p:extLst>
      <p:ext uri="{BB962C8B-B14F-4D97-AF65-F5344CB8AC3E}">
        <p14:creationId xmlns:p14="http://schemas.microsoft.com/office/powerpoint/2010/main" val="116484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335D31A4-69F9-45A7-8F63-EC87A2681A94}" type="slidenum">
              <a:rPr lang="pt-BR" smtClean="0"/>
              <a:t>4</a:t>
            </a:fld>
            <a:endParaRPr lang="pt-BR"/>
          </a:p>
        </p:txBody>
      </p:sp>
    </p:spTree>
    <p:extLst>
      <p:ext uri="{BB962C8B-B14F-4D97-AF65-F5344CB8AC3E}">
        <p14:creationId xmlns:p14="http://schemas.microsoft.com/office/powerpoint/2010/main" val="3452260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608406" y="4512376"/>
            <a:ext cx="8639776" cy="900190"/>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CC2C9B9-B4B7-45CC-A7EB-16F8BADE9045}" type="slidenum">
              <a:rPr lang="en-US" smtClean="0"/>
              <a:t>‹nº›</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608406" y="1720884"/>
            <a:ext cx="8639775" cy="2734693"/>
          </a:xfrm>
          <a:noFill/>
        </p:spPr>
        <p:txBody>
          <a:bodyPr anchor="b">
            <a:normAutofit/>
          </a:bodyPr>
          <a:lstStyle>
            <a:lvl1pPr algn="l">
              <a:defRPr sz="3200" spc="530" baseline="0"/>
            </a:lvl1pPr>
          </a:lstStyle>
          <a:p>
            <a:r>
              <a:rPr lang="en-US" dirty="0"/>
              <a:t>Click to edit Master title style</a:t>
            </a:r>
          </a:p>
        </p:txBody>
      </p:sp>
    </p:spTree>
    <p:extLst>
      <p:ext uri="{BB962C8B-B14F-4D97-AF65-F5344CB8AC3E}">
        <p14:creationId xmlns:p14="http://schemas.microsoft.com/office/powerpoint/2010/main" val="3980105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2322996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622474" y="2413788"/>
            <a:ext cx="8085116" cy="2737521"/>
          </a:xfrm>
        </p:spPr>
        <p:txBody>
          <a:bodyPr anchor="t">
            <a:norm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622474" y="1351721"/>
            <a:ext cx="8085118" cy="993913"/>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2843365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a:xfrm>
            <a:off x="1615817" y="1272209"/>
            <a:ext cx="9164725" cy="1033670"/>
          </a:xfrm>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615817" y="2425148"/>
            <a:ext cx="4188635" cy="31606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371355" y="2425148"/>
            <a:ext cx="4188635" cy="31606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1428953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017442" y="600817"/>
            <a:ext cx="10079497" cy="1168706"/>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017442" y="1798488"/>
            <a:ext cx="4599587"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017442" y="2777279"/>
            <a:ext cx="4599587" cy="32769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497352" y="1798488"/>
            <a:ext cx="4599588"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497352" y="2777279"/>
            <a:ext cx="4599588" cy="32769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CC2C9B9-B4B7-45CC-A7EB-16F8BADE9045}" type="slidenum">
              <a:rPr lang="en-US" smtClean="0"/>
              <a:t>‹nº›</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571185" y="2593591"/>
            <a:ext cx="4525755"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107503" y="2593591"/>
            <a:ext cx="4509526"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857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1695158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3438064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80121" y="1391478"/>
            <a:ext cx="3288432" cy="1951414"/>
          </a:xfrm>
        </p:spPr>
        <p:txBody>
          <a:bodyPr anchor="t">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03235" y="920080"/>
            <a:ext cx="5312467" cy="502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80121" y="3566727"/>
            <a:ext cx="3288432" cy="1766325"/>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CC2C9B9-B4B7-45CC-A7EB-16F8BADE9045}" type="slidenum">
              <a:rPr lang="en-US" smtClean="0"/>
              <a:t>‹nº›</a:t>
            </a:fld>
            <a:endParaRPr lang="en-US"/>
          </a:p>
        </p:txBody>
      </p:sp>
      <p:sp>
        <p:nvSpPr>
          <p:cNvPr id="11" name="Rectangle 10">
            <a:extLst>
              <a:ext uri="{FF2B5EF4-FFF2-40B4-BE49-F238E27FC236}">
                <a16:creationId xmlns:a16="http://schemas.microsoft.com/office/drawing/2014/main" id="{96AAC029-BE5C-900C-E7D2-DE6E31789D1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9305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80120" y="1391478"/>
            <a:ext cx="3322510" cy="2037522"/>
          </a:xfrm>
        </p:spPr>
        <p:txBody>
          <a:bodyPr anchor="t">
            <a:normAutofit/>
          </a:bodyPr>
          <a:lstStyle>
            <a:lvl1pPr>
              <a:defRPr sz="2400"/>
            </a:lvl1pPr>
          </a:lstStyle>
          <a:p>
            <a:r>
              <a:rPr lang="en-US" dirty="0"/>
              <a:t>Click to edit Master title style</a:t>
            </a:r>
          </a:p>
        </p:txBody>
      </p:sp>
      <p:sp useBgFill="1">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907143" y="931857"/>
            <a:ext cx="5351659" cy="499630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80120" y="3742792"/>
            <a:ext cx="3322510" cy="1590261"/>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CC2C9B9-B4B7-45CC-A7EB-16F8BADE9045}" type="slidenum">
              <a:rPr lang="en-US" smtClean="0"/>
              <a:t>‹nº›</a:t>
            </a:fld>
            <a:endParaRPr lang="en-US"/>
          </a:p>
        </p:txBody>
      </p:sp>
      <p:sp>
        <p:nvSpPr>
          <p:cNvPr id="9" name="Rectangle 8">
            <a:extLst>
              <a:ext uri="{FF2B5EF4-FFF2-40B4-BE49-F238E27FC236}">
                <a16:creationId xmlns:a16="http://schemas.microsoft.com/office/drawing/2014/main" id="{4DD8EE65-D4F9-418A-1628-F5DFD3DBA24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4132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a:xfrm>
            <a:off x="1624338" y="1255172"/>
            <a:ext cx="9297346" cy="1050707"/>
          </a:xfrm>
        </p:spPr>
        <p:txBody>
          <a:bodyPr anchor="b"/>
          <a:lstStyle/>
          <a:p>
            <a:r>
              <a:rPr lang="en-US" dirty="0"/>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a:xfrm>
            <a:off x="1624338" y="2419468"/>
            <a:ext cx="9297346" cy="32543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281824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26961" y="1414196"/>
            <a:ext cx="1817441" cy="4100602"/>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1346042" y="1414196"/>
            <a:ext cx="7780919" cy="410060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E7736193-EDE3-4BB5-AE5F-E6E5472AB8BE}" type="datetimeFigureOut">
              <a:rPr lang="en-US" smtClean="0"/>
              <a:t>12/9/2024</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CC2C9B9-B4B7-45CC-A7EB-16F8BADE9045}" type="slidenum">
              <a:rPr lang="en-US" smtClean="0"/>
              <a:t>‹nº›</a:t>
            </a:fld>
            <a:endParaRPr lang="en-US"/>
          </a:p>
        </p:txBody>
      </p:sp>
    </p:spTree>
    <p:extLst>
      <p:ext uri="{BB962C8B-B14F-4D97-AF65-F5344CB8AC3E}">
        <p14:creationId xmlns:p14="http://schemas.microsoft.com/office/powerpoint/2010/main" val="508071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620442" y="1233199"/>
            <a:ext cx="8977511" cy="107382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620444" y="2419639"/>
            <a:ext cx="8977509" cy="314178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n-lt"/>
              </a:defRPr>
            </a:lvl1pPr>
          </a:lstStyle>
          <a:p>
            <a:fld id="{E7736193-EDE3-4BB5-AE5F-E6E5472AB8BE}" type="datetimeFigureOut">
              <a:rPr lang="en-US" smtClean="0"/>
              <a:t>12/9/2024</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696577" y="6199188"/>
            <a:ext cx="619125" cy="365125"/>
          </a:xfrm>
          <a:prstGeom prst="rect">
            <a:avLst/>
          </a:prstGeom>
        </p:spPr>
        <p:txBody>
          <a:bodyPr vert="horz" lIns="91440" tIns="45720" rIns="91440" bIns="45720" rtlCol="0" anchor="ctr"/>
          <a:lstStyle>
            <a:lvl1pPr algn="r">
              <a:defRPr sz="1050">
                <a:solidFill>
                  <a:schemeClr val="tx1"/>
                </a:solidFill>
                <a:latin typeface="+mn-lt"/>
              </a:defRPr>
            </a:lvl1pPr>
          </a:lstStyle>
          <a:p>
            <a:fld id="{1CC2C9B9-B4B7-45CC-A7EB-16F8BADE9045}" type="slidenum">
              <a:rPr lang="en-US" smtClean="0"/>
              <a:t>‹nº›</a:t>
            </a:fld>
            <a:endParaRPr lang="en-US"/>
          </a:p>
        </p:txBody>
      </p:sp>
      <p:sp>
        <p:nvSpPr>
          <p:cNvPr id="8" name="Rectangle 7">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139465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53" r:id="rId6"/>
    <p:sldLayoutId id="2147483749" r:id="rId7"/>
    <p:sldLayoutId id="2147483750" r:id="rId8"/>
    <p:sldLayoutId id="2147483751" r:id="rId9"/>
    <p:sldLayoutId id="2147483752" r:id="rId10"/>
    <p:sldLayoutId id="2147483754" r:id="rId11"/>
  </p:sldLayoutIdLst>
  <p:txStyles>
    <p:titleStyle>
      <a:lvl1pPr algn="l" defTabSz="914400" rtl="0" eaLnBrk="1" latinLnBrk="0" hangingPunct="1">
        <a:lnSpc>
          <a:spcPct val="120000"/>
        </a:lnSpc>
        <a:spcBef>
          <a:spcPct val="0"/>
        </a:spcBef>
        <a:buNone/>
        <a:defRPr sz="2800" b="1"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hyperlink" Target="https://searchengineland.com/firefox-deal-continues-boost-yahoo-us-search-share-grows-january-213998" TargetMode="External"/><Relationship Id="rId5" Type="http://schemas.openxmlformats.org/officeDocument/2006/relationships/image" Target="../media/image7.jp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logodownload.org/discord-logo/" TargetMode="External"/><Relationship Id="rId7" Type="http://schemas.openxmlformats.org/officeDocument/2006/relationships/hyperlink" Target="https://ar.inspiredpencil.com/pictures-2023/reddit-logo" TargetMode="Externa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hyperlink" Target="https://docmanagement.com.br/10/02/2014/novo-msn-ja-esta-disponivel-no-brasil-com-mais-interatividade-e-mobilidade/" TargetMode="External"/><Relationship Id="rId5" Type="http://schemas.openxmlformats.org/officeDocument/2006/relationships/hyperlink" Target="https://www.arabphones.net/2017/09/teamspeak-3-apk.html" TargetMode="External"/><Relationship Id="rId10" Type="http://schemas.openxmlformats.org/officeDocument/2006/relationships/image" Target="../media/image12.jpg"/><Relationship Id="rId4" Type="http://schemas.openxmlformats.org/officeDocument/2006/relationships/image" Target="../media/image9.png"/><Relationship Id="rId9" Type="http://schemas.openxmlformats.org/officeDocument/2006/relationships/hyperlink" Target="https://ru.wikipedia.org/wiki/WhatsApp"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logodownload.org/discord-logo/"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wiki.miranda-ng.org/index.php?title=File:Skype_logo.png" TargetMode="External"/><Relationship Id="rId7" Type="http://schemas.openxmlformats.org/officeDocument/2006/relationships/hyperlink" Target="https://www.vecteezy.com/png/12871376-zoom-logo-in-blue-colors-meetings-app-logotype-illustration" TargetMode="Externa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hyperlink" Target="https://www.imageneseducativas.com/10-aplicaciones-gratuitas-para-dar-clases-on-line-y-organizar-videollamadas/jitsi-meet/" TargetMode="External"/><Relationship Id="rId5" Type="http://schemas.openxmlformats.org/officeDocument/2006/relationships/hyperlink" Target="https://kenjuega1080.blogspot.com/2021/11/como-descargar-google-meet-para-pc.html" TargetMode="External"/><Relationship Id="rId10" Type="http://schemas.openxmlformats.org/officeDocument/2006/relationships/image" Target="../media/image18.jpg"/><Relationship Id="rId4" Type="http://schemas.openxmlformats.org/officeDocument/2006/relationships/image" Target="../media/image15.jpg"/><Relationship Id="rId9" Type="http://schemas.openxmlformats.org/officeDocument/2006/relationships/hyperlink" Target="https://logos-world.net/microsoft-teams-logo/"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ogos-world.net/microsoft-teams-logo/"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23FB3B-24E7-5304-70D8-3CA40290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081EE3-B6BE-9584-F5AF-E5F6484D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Esferas brancas em um efeito desfocado">
            <a:extLst>
              <a:ext uri="{FF2B5EF4-FFF2-40B4-BE49-F238E27FC236}">
                <a16:creationId xmlns:a16="http://schemas.microsoft.com/office/drawing/2014/main" id="{448D21F3-B21A-B0B5-DCFB-798F25B66DAE}"/>
              </a:ext>
            </a:extLst>
          </p:cNvPr>
          <p:cNvPicPr>
            <a:picLocks noChangeAspect="1"/>
          </p:cNvPicPr>
          <p:nvPr/>
        </p:nvPicPr>
        <p:blipFill>
          <a:blip r:embed="rId2">
            <a:alphaModFix amt="50000"/>
          </a:blip>
          <a:srcRect t="7712" b="18275"/>
          <a:stretch/>
        </p:blipFill>
        <p:spPr>
          <a:xfrm>
            <a:off x="-149" y="-5291"/>
            <a:ext cx="12192001" cy="6858000"/>
          </a:xfrm>
          <a:prstGeom prst="rect">
            <a:avLst/>
          </a:prstGeom>
        </p:spPr>
      </p:pic>
      <p:sp>
        <p:nvSpPr>
          <p:cNvPr id="20" name="Freeform: Shape 19">
            <a:extLst>
              <a:ext uri="{FF2B5EF4-FFF2-40B4-BE49-F238E27FC236}">
                <a16:creationId xmlns:a16="http://schemas.microsoft.com/office/drawing/2014/main" id="{4711BF64-C99B-2F90-ADA1-0C08F9BE8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1856" y="934541"/>
            <a:ext cx="10329631" cy="4992275"/>
          </a:xfrm>
          <a:custGeom>
            <a:avLst/>
            <a:gdLst>
              <a:gd name="connsiteX0" fmla="*/ 0 w 9985794"/>
              <a:gd name="connsiteY0" fmla="*/ 0 h 4920343"/>
              <a:gd name="connsiteX1" fmla="*/ 9985794 w 9985794"/>
              <a:gd name="connsiteY1" fmla="*/ 0 h 4920343"/>
              <a:gd name="connsiteX2" fmla="*/ 9985794 w 9985794"/>
              <a:gd name="connsiteY2" fmla="*/ 4920343 h 4920343"/>
              <a:gd name="connsiteX3" fmla="*/ 0 w 9985794"/>
              <a:gd name="connsiteY3" fmla="*/ 4920343 h 4920343"/>
              <a:gd name="connsiteX4" fmla="*/ 0 w 9985794"/>
              <a:gd name="connsiteY4" fmla="*/ 4119525 h 4920343"/>
              <a:gd name="connsiteX5" fmla="*/ 4905554 w 9985794"/>
              <a:gd name="connsiteY5" fmla="*/ 4119525 h 4920343"/>
              <a:gd name="connsiteX6" fmla="*/ 4905554 w 9985794"/>
              <a:gd name="connsiteY6" fmla="*/ 1451087 h 4920343"/>
              <a:gd name="connsiteX7" fmla="*/ 0 w 9985794"/>
              <a:gd name="connsiteY7" fmla="*/ 1451087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8" fmla="*/ 4996994 w 9985794"/>
              <a:gd name="connsiteY8" fmla="*/ 4210965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0" fmla="*/ 4905554 w 9985794"/>
              <a:gd name="connsiteY0" fmla="*/ 1451087 h 4920343"/>
              <a:gd name="connsiteX1" fmla="*/ 0 w 9985794"/>
              <a:gd name="connsiteY1" fmla="*/ 1451087 h 4920343"/>
              <a:gd name="connsiteX2" fmla="*/ 0 w 9985794"/>
              <a:gd name="connsiteY2" fmla="*/ 0 h 4920343"/>
              <a:gd name="connsiteX3" fmla="*/ 9985794 w 9985794"/>
              <a:gd name="connsiteY3" fmla="*/ 0 h 4920343"/>
              <a:gd name="connsiteX4" fmla="*/ 9985794 w 9985794"/>
              <a:gd name="connsiteY4" fmla="*/ 4920343 h 4920343"/>
              <a:gd name="connsiteX5" fmla="*/ 0 w 9985794"/>
              <a:gd name="connsiteY5" fmla="*/ 4920343 h 4920343"/>
              <a:gd name="connsiteX6" fmla="*/ 0 w 9985794"/>
              <a:gd name="connsiteY6" fmla="*/ 4119525 h 4920343"/>
              <a:gd name="connsiteX0" fmla="*/ 0 w 9985794"/>
              <a:gd name="connsiteY0" fmla="*/ 1451087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 name="connsiteX0" fmla="*/ 0 w 9985794"/>
              <a:gd name="connsiteY0" fmla="*/ 1551223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 name="connsiteX0" fmla="*/ 17333 w 9985794"/>
              <a:gd name="connsiteY0" fmla="*/ 1686702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 name="connsiteX0" fmla="*/ 1 w 9985794"/>
              <a:gd name="connsiteY0" fmla="*/ 1686702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5794" h="4920343">
                <a:moveTo>
                  <a:pt x="1" y="1686702"/>
                </a:moveTo>
                <a:cubicBezTo>
                  <a:pt x="1" y="1124468"/>
                  <a:pt x="0" y="562234"/>
                  <a:pt x="0" y="0"/>
                </a:cubicBezTo>
                <a:lnTo>
                  <a:pt x="9985794" y="0"/>
                </a:lnTo>
                <a:lnTo>
                  <a:pt x="9985794" y="4920343"/>
                </a:lnTo>
                <a:lnTo>
                  <a:pt x="0" y="4920343"/>
                </a:lnTo>
                <a:lnTo>
                  <a:pt x="0" y="4119525"/>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1">
                  <a:lumMod val="40000"/>
                  <a:lumOff val="60000"/>
                </a:schemeClr>
              </a:solidFill>
            </a:endParaRPr>
          </a:p>
        </p:txBody>
      </p:sp>
      <p:sp>
        <p:nvSpPr>
          <p:cNvPr id="2" name="Título 1">
            <a:extLst>
              <a:ext uri="{FF2B5EF4-FFF2-40B4-BE49-F238E27FC236}">
                <a16:creationId xmlns:a16="http://schemas.microsoft.com/office/drawing/2014/main" id="{8F0E8B0E-BC4B-AD35-2354-1953F3168576}"/>
              </a:ext>
            </a:extLst>
          </p:cNvPr>
          <p:cNvSpPr>
            <a:spLocks noGrp="1"/>
          </p:cNvSpPr>
          <p:nvPr>
            <p:ph type="ctrTitle"/>
          </p:nvPr>
        </p:nvSpPr>
        <p:spPr>
          <a:xfrm>
            <a:off x="776882" y="2498165"/>
            <a:ext cx="4536336" cy="2016326"/>
          </a:xfrm>
          <a:noFill/>
        </p:spPr>
        <p:txBody>
          <a:bodyPr anchor="b">
            <a:normAutofit/>
          </a:bodyPr>
          <a:lstStyle/>
          <a:p>
            <a:r>
              <a:rPr lang="pt-BR" dirty="0">
                <a:solidFill>
                  <a:schemeClr val="accent1">
                    <a:lumMod val="60000"/>
                    <a:lumOff val="40000"/>
                  </a:schemeClr>
                </a:solidFill>
              </a:rPr>
              <a:t>Online research and interaction</a:t>
            </a:r>
          </a:p>
        </p:txBody>
      </p:sp>
      <p:pic>
        <p:nvPicPr>
          <p:cNvPr id="1032" name="Picture 8">
            <a:extLst>
              <a:ext uri="{FF2B5EF4-FFF2-40B4-BE49-F238E27FC236}">
                <a16:creationId xmlns:a16="http://schemas.microsoft.com/office/drawing/2014/main" id="{B8F4B7AE-0CF9-D36C-D723-6713823E8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409" y="6078115"/>
            <a:ext cx="7650884" cy="822470"/>
          </a:xfrm>
          <a:prstGeom prst="rect">
            <a:avLst/>
          </a:prstGeom>
          <a:noFill/>
          <a:extLst>
            <a:ext uri="{909E8E84-426E-40DD-AFC4-6F175D3DCCD1}">
              <a14:hiddenFill xmlns:a14="http://schemas.microsoft.com/office/drawing/2010/main">
                <a:solidFill>
                  <a:srgbClr val="FFFFFF"/>
                </a:solidFill>
              </a14:hiddenFill>
            </a:ext>
          </a:extLst>
        </p:spPr>
      </p:pic>
      <p:sp>
        <p:nvSpPr>
          <p:cNvPr id="3" name="Subtítulo 2">
            <a:extLst>
              <a:ext uri="{FF2B5EF4-FFF2-40B4-BE49-F238E27FC236}">
                <a16:creationId xmlns:a16="http://schemas.microsoft.com/office/drawing/2014/main" id="{6D709E43-9EE2-64FA-E399-56B99161662E}"/>
              </a:ext>
            </a:extLst>
          </p:cNvPr>
          <p:cNvSpPr>
            <a:spLocks noGrp="1"/>
          </p:cNvSpPr>
          <p:nvPr>
            <p:ph type="subTitle" idx="1"/>
          </p:nvPr>
        </p:nvSpPr>
        <p:spPr>
          <a:xfrm>
            <a:off x="975002" y="4514492"/>
            <a:ext cx="4536336" cy="619145"/>
          </a:xfrm>
          <a:noFill/>
        </p:spPr>
        <p:txBody>
          <a:bodyPr anchor="t">
            <a:normAutofit/>
          </a:bodyPr>
          <a:lstStyle/>
          <a:p>
            <a:r>
              <a:rPr lang="pt-BR" dirty="0">
                <a:solidFill>
                  <a:schemeClr val="accent1">
                    <a:lumMod val="60000"/>
                    <a:lumOff val="40000"/>
                  </a:schemeClr>
                </a:solidFill>
              </a:rPr>
              <a:t>Nome: Gustavo Felipe Marques de Sousa</a:t>
            </a:r>
          </a:p>
          <a:p>
            <a:endParaRPr lang="pt-BR" dirty="0">
              <a:solidFill>
                <a:schemeClr val="accent1">
                  <a:lumMod val="60000"/>
                  <a:lumOff val="40000"/>
                </a:schemeClr>
              </a:solidFill>
            </a:endParaRPr>
          </a:p>
        </p:txBody>
      </p:sp>
      <p:sp>
        <p:nvSpPr>
          <p:cNvPr id="5" name="Subtítulo 2">
            <a:extLst>
              <a:ext uri="{FF2B5EF4-FFF2-40B4-BE49-F238E27FC236}">
                <a16:creationId xmlns:a16="http://schemas.microsoft.com/office/drawing/2014/main" id="{24DF3E72-7131-F146-C928-46B8A8C85780}"/>
              </a:ext>
            </a:extLst>
          </p:cNvPr>
          <p:cNvSpPr txBox="1">
            <a:spLocks/>
          </p:cNvSpPr>
          <p:nvPr/>
        </p:nvSpPr>
        <p:spPr>
          <a:xfrm>
            <a:off x="975002" y="4998721"/>
            <a:ext cx="5532478" cy="866564"/>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pt-BR" dirty="0">
                <a:solidFill>
                  <a:schemeClr val="accent1">
                    <a:lumMod val="60000"/>
                    <a:lumOff val="40000"/>
                  </a:schemeClr>
                </a:solidFill>
              </a:rPr>
              <a:t>5123- Língua inglesa no contexto profissional</a:t>
            </a:r>
          </a:p>
          <a:p>
            <a:r>
              <a:rPr lang="pt-BR" dirty="0">
                <a:solidFill>
                  <a:schemeClr val="accent1">
                    <a:lumMod val="60000"/>
                    <a:lumOff val="40000"/>
                  </a:schemeClr>
                </a:solidFill>
              </a:rPr>
              <a:t>Formador: Cristina Cunha</a:t>
            </a:r>
          </a:p>
        </p:txBody>
      </p:sp>
      <p:pic>
        <p:nvPicPr>
          <p:cNvPr id="1034" name="Picture 10" descr="logoiefpnovo-cor">
            <a:extLst>
              <a:ext uri="{FF2B5EF4-FFF2-40B4-BE49-F238E27FC236}">
                <a16:creationId xmlns:a16="http://schemas.microsoft.com/office/drawing/2014/main" id="{D8EC5E10-9567-E1E0-9FA3-5046B7D63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427" y="945090"/>
            <a:ext cx="2039841" cy="1719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546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BE6DCE-5CDB-663D-82C7-92746CDAB43F}"/>
              </a:ext>
            </a:extLst>
          </p:cNvPr>
          <p:cNvSpPr>
            <a:spLocks noGrp="1"/>
          </p:cNvSpPr>
          <p:nvPr>
            <p:ph type="title"/>
          </p:nvPr>
        </p:nvSpPr>
        <p:spPr/>
        <p:txBody>
          <a:bodyPr>
            <a:normAutofit/>
          </a:bodyPr>
          <a:lstStyle/>
          <a:p>
            <a:r>
              <a:rPr lang="pt-BR" dirty="0"/>
              <a:t>About Search and interaction</a:t>
            </a:r>
          </a:p>
        </p:txBody>
      </p:sp>
      <p:sp>
        <p:nvSpPr>
          <p:cNvPr id="3" name="Espaço Reservado para Conteúdo 2">
            <a:extLst>
              <a:ext uri="{FF2B5EF4-FFF2-40B4-BE49-F238E27FC236}">
                <a16:creationId xmlns:a16="http://schemas.microsoft.com/office/drawing/2014/main" id="{3702E78F-B6F8-D882-A015-FAEA649009A3}"/>
              </a:ext>
            </a:extLst>
          </p:cNvPr>
          <p:cNvSpPr>
            <a:spLocks noGrp="1"/>
          </p:cNvSpPr>
          <p:nvPr>
            <p:ph idx="1"/>
          </p:nvPr>
        </p:nvSpPr>
        <p:spPr/>
        <p:txBody>
          <a:bodyPr>
            <a:normAutofit/>
          </a:bodyPr>
          <a:lstStyle/>
          <a:p>
            <a:pPr marL="0" indent="0" algn="just">
              <a:buNone/>
            </a:pPr>
            <a:r>
              <a:rPr lang="en-US" dirty="0">
                <a:latin typeface="Arial" panose="020B0604020202020204" pitchFamily="34" charset="0"/>
                <a:cs typeface="Arial" panose="020B0604020202020204" pitchFamily="34" charset="0"/>
              </a:rPr>
              <a:t>	Online research has transformed the way we gather information. This presentation will explore the various tools available, including search engines, chat rooms, and video conferencing. Understanding these resources is crucial for effective communication and collaboration in today's digital landscape.</a:t>
            </a:r>
            <a:endParaRPr lang="pt-B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311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25C5-D803-040E-FC9F-B2FFC1A282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4F76BF-CD7A-36CA-1A6D-2B90ADA023F3}"/>
              </a:ext>
            </a:extLst>
          </p:cNvPr>
          <p:cNvSpPr>
            <a:spLocks noGrp="1"/>
          </p:cNvSpPr>
          <p:nvPr>
            <p:ph type="title"/>
          </p:nvPr>
        </p:nvSpPr>
        <p:spPr/>
        <p:txBody>
          <a:bodyPr>
            <a:normAutofit/>
          </a:bodyPr>
          <a:lstStyle/>
          <a:p>
            <a:r>
              <a:rPr lang="pt-BR" dirty="0"/>
              <a:t>Search engines</a:t>
            </a:r>
          </a:p>
        </p:txBody>
      </p:sp>
      <p:sp>
        <p:nvSpPr>
          <p:cNvPr id="3" name="Espaço Reservado para Conteúdo 2">
            <a:extLst>
              <a:ext uri="{FF2B5EF4-FFF2-40B4-BE49-F238E27FC236}">
                <a16:creationId xmlns:a16="http://schemas.microsoft.com/office/drawing/2014/main" id="{84FE31B5-A600-808D-44A2-1A26265CAB5C}"/>
              </a:ext>
            </a:extLst>
          </p:cNvPr>
          <p:cNvSpPr>
            <a:spLocks noGrp="1"/>
          </p:cNvSpPr>
          <p:nvPr>
            <p:ph idx="1"/>
          </p:nvPr>
        </p:nvSpPr>
        <p:spPr>
          <a:xfrm>
            <a:off x="1620444" y="2419639"/>
            <a:ext cx="8977509" cy="1161761"/>
          </a:xfrm>
        </p:spPr>
        <p:txBody>
          <a:bodyPr>
            <a:normAutofit/>
          </a:bodyPr>
          <a:lstStyle/>
          <a:p>
            <a:pPr marL="0" indent="0" algn="just">
              <a:buNone/>
            </a:pPr>
            <a:r>
              <a:rPr lang="en-US" dirty="0">
                <a:latin typeface="Arial" panose="020B0604020202020204" pitchFamily="34" charset="0"/>
                <a:cs typeface="Arial" panose="020B0604020202020204" pitchFamily="34" charset="0"/>
              </a:rPr>
              <a:t>	Search engines are powerful tools that help users find information quickly. By utilizing keywords, filters, and advanced search techniques, researchers can access a vast array of data. There are a lot of search engines as like: </a:t>
            </a:r>
          </a:p>
          <a:p>
            <a:pPr marL="0" indent="0" algn="just">
              <a:buNone/>
            </a:pPr>
            <a:endParaRPr lang="pt-BR" dirty="0">
              <a:latin typeface="Arial" panose="020B0604020202020204" pitchFamily="34" charset="0"/>
              <a:cs typeface="Arial" panose="020B0604020202020204" pitchFamily="34" charset="0"/>
            </a:endParaRPr>
          </a:p>
        </p:txBody>
      </p:sp>
      <p:pic>
        <p:nvPicPr>
          <p:cNvPr id="2050" name="Picture 2" descr="DuckDuckGo's privacy-focused browser is now available for Windows ...">
            <a:extLst>
              <a:ext uri="{FF2B5EF4-FFF2-40B4-BE49-F238E27FC236}">
                <a16:creationId xmlns:a16="http://schemas.microsoft.com/office/drawing/2014/main" id="{4D3EAB36-F045-5A54-B4DD-D4D26EF99F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82" r="24764"/>
          <a:stretch/>
        </p:blipFill>
        <p:spPr bwMode="auto">
          <a:xfrm>
            <a:off x="6652674" y="3830997"/>
            <a:ext cx="1533524" cy="157331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2052" name="Picture 4" descr="How search engines like Google work">
            <a:extLst>
              <a:ext uri="{FF2B5EF4-FFF2-40B4-BE49-F238E27FC236}">
                <a16:creationId xmlns:a16="http://schemas.microsoft.com/office/drawing/2014/main" id="{A5EC4FB1-6E3D-E113-C392-0D519A1567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4318" y="3785345"/>
            <a:ext cx="2223548" cy="1573200"/>
          </a:xfrm>
          <a:prstGeom prst="snip2DiagRect">
            <a:avLst>
              <a:gd name="adj1" fmla="val 0"/>
              <a:gd name="adj2" fmla="val 17381"/>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2054" name="Picture 6" descr="Bing agora se chama &quot;Microsoft Bing&quot;; confiram novos logotipos">
            <a:extLst>
              <a:ext uri="{FF2B5EF4-FFF2-40B4-BE49-F238E27FC236}">
                <a16:creationId xmlns:a16="http://schemas.microsoft.com/office/drawing/2014/main" id="{33D72263-A802-3FAE-0056-C2A64E580D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189" r="22787"/>
          <a:stretch/>
        </p:blipFill>
        <p:spPr bwMode="auto">
          <a:xfrm>
            <a:off x="2630162" y="3694015"/>
            <a:ext cx="1369348" cy="1573310"/>
          </a:xfrm>
          <a:prstGeom prst="snip2DiagRect">
            <a:avLst>
              <a:gd name="adj1" fmla="val 0"/>
              <a:gd name="adj2" fmla="val 17381"/>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BC24E2D-EC8E-17A1-88BB-4BF1EAE05090}"/>
              </a:ext>
            </a:extLst>
          </p:cNvPr>
          <p:cNvPicPr>
            <a:picLocks noChangeAspect="1" noChangeArrowheads="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9564" t="-58022" r="-8887" b="-58022"/>
          <a:stretch/>
        </p:blipFill>
        <p:spPr bwMode="auto">
          <a:xfrm>
            <a:off x="8401006" y="3830997"/>
            <a:ext cx="1533524" cy="1573310"/>
          </a:xfrm>
          <a:prstGeom prst="snip2DiagRect">
            <a:avLst/>
          </a:prstGeom>
          <a:solidFill>
            <a:schemeClr val="bg1"/>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4296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1424C5C-46F1-854D-32D5-901799314579}"/>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DuckDuckGo's privacy-focused browser is now available for Windows ...">
            <a:extLst>
              <a:ext uri="{FF2B5EF4-FFF2-40B4-BE49-F238E27FC236}">
                <a16:creationId xmlns:a16="http://schemas.microsoft.com/office/drawing/2014/main" id="{E57CAE1D-85EA-F768-A054-E78C2F2E2469}"/>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32360" r="31840" b="-1"/>
          <a:stretch/>
        </p:blipFill>
        <p:spPr bwMode="auto">
          <a:xfrm>
            <a:off x="20" y="-1"/>
            <a:ext cx="4654276" cy="6857999"/>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
        <p:nvSpPr>
          <p:cNvPr id="2059" name="Freeform: Shape 2058">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E4B89786-6B23-B66D-C524-AACE7DF096F1}"/>
              </a:ext>
            </a:extLst>
          </p:cNvPr>
          <p:cNvSpPr>
            <a:spLocks noGrp="1"/>
          </p:cNvSpPr>
          <p:nvPr>
            <p:ph type="title"/>
          </p:nvPr>
        </p:nvSpPr>
        <p:spPr>
          <a:xfrm>
            <a:off x="4834536" y="1362075"/>
            <a:ext cx="3481988" cy="579416"/>
          </a:xfrm>
          <a:noFill/>
        </p:spPr>
        <p:txBody>
          <a:bodyPr>
            <a:normAutofit/>
          </a:bodyPr>
          <a:lstStyle/>
          <a:p>
            <a:r>
              <a:rPr lang="pt-BR" dirty="0"/>
              <a:t>DuckDuckgo</a:t>
            </a:r>
          </a:p>
        </p:txBody>
      </p:sp>
      <p:graphicFrame>
        <p:nvGraphicFramePr>
          <p:cNvPr id="10" name="Espaço Reservado para Conteúdo 5">
            <a:extLst>
              <a:ext uri="{FF2B5EF4-FFF2-40B4-BE49-F238E27FC236}">
                <a16:creationId xmlns:a16="http://schemas.microsoft.com/office/drawing/2014/main" id="{66A2CF47-606D-4C34-CCDE-52616210D38C}"/>
              </a:ext>
            </a:extLst>
          </p:cNvPr>
          <p:cNvGraphicFramePr>
            <a:graphicFrameLocks noGrp="1"/>
          </p:cNvGraphicFramePr>
          <p:nvPr>
            <p:ph idx="1"/>
            <p:extLst>
              <p:ext uri="{D42A27DB-BD31-4B8C-83A1-F6EECF244321}">
                <p14:modId xmlns:p14="http://schemas.microsoft.com/office/powerpoint/2010/main" val="424802314"/>
              </p:ext>
            </p:extLst>
          </p:nvPr>
        </p:nvGraphicFramePr>
        <p:xfrm>
          <a:off x="4834536" y="2079539"/>
          <a:ext cx="6223256" cy="1737360"/>
        </p:xfrm>
        <a:graphic>
          <a:graphicData uri="http://schemas.openxmlformats.org/drawingml/2006/table">
            <a:tbl>
              <a:tblPr firstRow="1" bandRow="1">
                <a:tableStyleId>{5C22544A-7EE6-4342-B048-85BDC9FD1C3A}</a:tableStyleId>
              </a:tblPr>
              <a:tblGrid>
                <a:gridCol w="2925553">
                  <a:extLst>
                    <a:ext uri="{9D8B030D-6E8A-4147-A177-3AD203B41FA5}">
                      <a16:colId xmlns:a16="http://schemas.microsoft.com/office/drawing/2014/main" val="1300818847"/>
                    </a:ext>
                  </a:extLst>
                </a:gridCol>
                <a:gridCol w="3297703">
                  <a:extLst>
                    <a:ext uri="{9D8B030D-6E8A-4147-A177-3AD203B41FA5}">
                      <a16:colId xmlns:a16="http://schemas.microsoft.com/office/drawing/2014/main" val="991262553"/>
                    </a:ext>
                  </a:extLst>
                </a:gridCol>
              </a:tblGrid>
              <a:tr h="321613">
                <a:tc>
                  <a:txBody>
                    <a:bodyPr/>
                    <a:lstStyle/>
                    <a:p>
                      <a:pPr algn="ctr"/>
                      <a:r>
                        <a:rPr lang="pt-BR" dirty="0" err="1"/>
                        <a:t>What</a:t>
                      </a:r>
                      <a:r>
                        <a:rPr lang="pt-BR" dirty="0"/>
                        <a:t> </a:t>
                      </a:r>
                      <a:r>
                        <a:rPr lang="pt-BR" dirty="0" err="1"/>
                        <a:t>We</a:t>
                      </a:r>
                      <a:r>
                        <a:rPr lang="pt-BR" dirty="0"/>
                        <a:t> like </a:t>
                      </a:r>
                    </a:p>
                  </a:txBody>
                  <a:tcPr/>
                </a:tc>
                <a:tc>
                  <a:txBody>
                    <a:bodyPr/>
                    <a:lstStyle/>
                    <a:p>
                      <a:pPr algn="ctr"/>
                      <a:r>
                        <a:rPr lang="pt-BR" sz="1800" b="0" i="0" kern="1200" dirty="0" err="1">
                          <a:solidFill>
                            <a:schemeClr val="lt1"/>
                          </a:solidFill>
                          <a:effectLst/>
                          <a:latin typeface="+mn-lt"/>
                          <a:ea typeface="+mn-ea"/>
                          <a:cs typeface="+mn-cs"/>
                        </a:rPr>
                        <a:t>What</a:t>
                      </a:r>
                      <a:r>
                        <a:rPr lang="pt-BR" sz="1800" b="0" i="0" kern="1200" dirty="0">
                          <a:solidFill>
                            <a:schemeClr val="lt1"/>
                          </a:solidFill>
                          <a:effectLst/>
                          <a:latin typeface="+mn-lt"/>
                          <a:ea typeface="+mn-ea"/>
                          <a:cs typeface="+mn-cs"/>
                        </a:rPr>
                        <a:t> </a:t>
                      </a:r>
                      <a:r>
                        <a:rPr lang="pt-BR" sz="1800" b="0" i="0" kern="1200" dirty="0" err="1">
                          <a:solidFill>
                            <a:schemeClr val="lt1"/>
                          </a:solidFill>
                          <a:effectLst/>
                          <a:latin typeface="+mn-lt"/>
                          <a:ea typeface="+mn-ea"/>
                          <a:cs typeface="+mn-cs"/>
                        </a:rPr>
                        <a:t>We</a:t>
                      </a:r>
                      <a:r>
                        <a:rPr lang="pt-BR" sz="1800" b="0" i="0" kern="1200" dirty="0">
                          <a:solidFill>
                            <a:schemeClr val="lt1"/>
                          </a:solidFill>
                          <a:effectLst/>
                          <a:latin typeface="+mn-lt"/>
                          <a:ea typeface="+mn-ea"/>
                          <a:cs typeface="+mn-cs"/>
                        </a:rPr>
                        <a:t> </a:t>
                      </a:r>
                      <a:r>
                        <a:rPr lang="pt-BR" sz="1800" b="0" i="0" kern="1200" dirty="0" err="1">
                          <a:solidFill>
                            <a:schemeClr val="lt1"/>
                          </a:solidFill>
                          <a:effectLst/>
                          <a:latin typeface="+mn-lt"/>
                          <a:ea typeface="+mn-ea"/>
                          <a:cs typeface="+mn-cs"/>
                        </a:rPr>
                        <a:t>Don't</a:t>
                      </a:r>
                      <a:r>
                        <a:rPr lang="pt-BR" sz="1800" b="0" i="0" kern="1200" dirty="0">
                          <a:solidFill>
                            <a:schemeClr val="lt1"/>
                          </a:solidFill>
                          <a:effectLst/>
                          <a:latin typeface="+mn-lt"/>
                          <a:ea typeface="+mn-ea"/>
                          <a:cs typeface="+mn-cs"/>
                        </a:rPr>
                        <a:t> Like</a:t>
                      </a:r>
                      <a:endParaRPr lang="pt-BR" dirty="0"/>
                    </a:p>
                  </a:txBody>
                  <a:tcPr/>
                </a:tc>
                <a:extLst>
                  <a:ext uri="{0D108BD9-81ED-4DB2-BD59-A6C34878D82A}">
                    <a16:rowId xmlns:a16="http://schemas.microsoft.com/office/drawing/2014/main" val="2385885117"/>
                  </a:ext>
                </a:extLst>
              </a:tr>
              <a:tr h="3216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 Does not track or store user information.</a:t>
                      </a:r>
                      <a:endParaRPr lang="pt-BR"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 Search results are not dated.</a:t>
                      </a:r>
                    </a:p>
                  </a:txBody>
                  <a:tcPr/>
                </a:tc>
                <a:extLst>
                  <a:ext uri="{0D108BD9-81ED-4DB2-BD59-A6C34878D82A}">
                    <a16:rowId xmlns:a16="http://schemas.microsoft.com/office/drawing/2014/main" val="2641897304"/>
                  </a:ext>
                </a:extLst>
              </a:tr>
              <a:tr h="3216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b="0" i="0" kern="1200" dirty="0">
                          <a:solidFill>
                            <a:schemeClr val="dk1"/>
                          </a:solidFill>
                          <a:effectLst/>
                          <a:latin typeface="+mn-lt"/>
                          <a:ea typeface="+mn-ea"/>
                          <a:cs typeface="+mn-cs"/>
                        </a:rPr>
                        <a:t> Fast </a:t>
                      </a:r>
                      <a:r>
                        <a:rPr lang="pt-BR" sz="1800" b="0" i="0" kern="1200" dirty="0" err="1">
                          <a:solidFill>
                            <a:schemeClr val="dk1"/>
                          </a:solidFill>
                          <a:effectLst/>
                          <a:latin typeface="+mn-lt"/>
                          <a:ea typeface="+mn-ea"/>
                          <a:cs typeface="+mn-cs"/>
                        </a:rPr>
                        <a:t>searches</a:t>
                      </a:r>
                      <a:r>
                        <a:rPr lang="pt-BR" sz="1800" b="0" i="0" kern="1200" dirty="0">
                          <a:solidFill>
                            <a:schemeClr val="dk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b="0" i="0" kern="1200" dirty="0">
                          <a:solidFill>
                            <a:schemeClr val="dk1"/>
                          </a:solidFill>
                          <a:effectLst/>
                          <a:latin typeface="+mn-lt"/>
                          <a:ea typeface="+mn-ea"/>
                          <a:cs typeface="+mn-cs"/>
                        </a:rPr>
                        <a:t> </a:t>
                      </a:r>
                      <a:r>
                        <a:rPr lang="pt-BR" sz="1800" b="0" i="0" kern="1200" dirty="0" err="1">
                          <a:solidFill>
                            <a:schemeClr val="dk1"/>
                          </a:solidFill>
                          <a:effectLst/>
                          <a:latin typeface="+mn-lt"/>
                          <a:ea typeface="+mn-ea"/>
                          <a:cs typeface="+mn-cs"/>
                        </a:rPr>
                        <a:t>Limited</a:t>
                      </a:r>
                      <a:r>
                        <a:rPr lang="pt-BR" sz="1800" b="0" i="0" kern="1200" dirty="0">
                          <a:solidFill>
                            <a:schemeClr val="dk1"/>
                          </a:solidFill>
                          <a:effectLst/>
                          <a:latin typeface="+mn-lt"/>
                          <a:ea typeface="+mn-ea"/>
                          <a:cs typeface="+mn-cs"/>
                        </a:rPr>
                        <a:t> </a:t>
                      </a:r>
                      <a:r>
                        <a:rPr lang="pt-BR" sz="1800" b="0" i="0" kern="1200" dirty="0" err="1">
                          <a:solidFill>
                            <a:schemeClr val="dk1"/>
                          </a:solidFill>
                          <a:effectLst/>
                          <a:latin typeface="+mn-lt"/>
                          <a:ea typeface="+mn-ea"/>
                          <a:cs typeface="+mn-cs"/>
                        </a:rPr>
                        <a:t>image</a:t>
                      </a:r>
                      <a:r>
                        <a:rPr lang="pt-BR" sz="1800" b="0" i="0" kern="1200" dirty="0">
                          <a:solidFill>
                            <a:schemeClr val="dk1"/>
                          </a:solidFill>
                          <a:effectLst/>
                          <a:latin typeface="+mn-lt"/>
                          <a:ea typeface="+mn-ea"/>
                          <a:cs typeface="+mn-cs"/>
                        </a:rPr>
                        <a:t> </a:t>
                      </a:r>
                      <a:r>
                        <a:rPr lang="pt-BR" sz="1800" b="0" i="0" kern="1200" dirty="0" err="1">
                          <a:solidFill>
                            <a:schemeClr val="dk1"/>
                          </a:solidFill>
                          <a:effectLst/>
                          <a:latin typeface="+mn-lt"/>
                          <a:ea typeface="+mn-ea"/>
                          <a:cs typeface="+mn-cs"/>
                        </a:rPr>
                        <a:t>search</a:t>
                      </a:r>
                      <a:r>
                        <a:rPr lang="pt-BR" sz="1800" b="0" i="0" kern="1200" dirty="0">
                          <a:solidFill>
                            <a:schemeClr val="dk1"/>
                          </a:solidFill>
                          <a:effectLst/>
                          <a:latin typeface="+mn-lt"/>
                          <a:ea typeface="+mn-ea"/>
                          <a:cs typeface="+mn-cs"/>
                        </a:rPr>
                        <a:t> </a:t>
                      </a:r>
                      <a:r>
                        <a:rPr lang="pt-BR" sz="1800" b="0" i="0" kern="1200" dirty="0" err="1">
                          <a:solidFill>
                            <a:schemeClr val="dk1"/>
                          </a:solidFill>
                          <a:effectLst/>
                          <a:latin typeface="+mn-lt"/>
                          <a:ea typeface="+mn-ea"/>
                          <a:cs typeface="+mn-cs"/>
                        </a:rPr>
                        <a:t>results</a:t>
                      </a:r>
                      <a:r>
                        <a:rPr lang="pt-BR" sz="1800" b="0" i="0" kern="1200" dirty="0">
                          <a:solidFill>
                            <a:schemeClr val="dk1"/>
                          </a:solidFill>
                          <a:effectLst/>
                          <a:latin typeface="+mn-lt"/>
                          <a:ea typeface="+mn-ea"/>
                          <a:cs typeface="+mn-cs"/>
                        </a:rPr>
                        <a:t>.</a:t>
                      </a:r>
                    </a:p>
                  </a:txBody>
                  <a:tcPr/>
                </a:tc>
                <a:extLst>
                  <a:ext uri="{0D108BD9-81ED-4DB2-BD59-A6C34878D82A}">
                    <a16:rowId xmlns:a16="http://schemas.microsoft.com/office/drawing/2014/main" val="59114113"/>
                  </a:ext>
                </a:extLst>
              </a:tr>
              <a:tr h="3216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BR"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b="0" i="0" kern="1200" dirty="0">
                          <a:solidFill>
                            <a:schemeClr val="dk1"/>
                          </a:solidFill>
                          <a:effectLst/>
                          <a:latin typeface="+mn-lt"/>
                          <a:ea typeface="+mn-ea"/>
                          <a:cs typeface="+mn-cs"/>
                        </a:rPr>
                        <a:t> No </a:t>
                      </a:r>
                      <a:r>
                        <a:rPr lang="pt-BR" sz="1800" b="0" i="0" kern="1200" dirty="0" err="1">
                          <a:solidFill>
                            <a:schemeClr val="dk1"/>
                          </a:solidFill>
                          <a:effectLst/>
                          <a:latin typeface="+mn-lt"/>
                          <a:ea typeface="+mn-ea"/>
                          <a:cs typeface="+mn-cs"/>
                        </a:rPr>
                        <a:t>personalized</a:t>
                      </a:r>
                      <a:r>
                        <a:rPr lang="pt-BR" sz="1800" b="0" i="0" kern="1200" dirty="0">
                          <a:solidFill>
                            <a:schemeClr val="dk1"/>
                          </a:solidFill>
                          <a:effectLst/>
                          <a:latin typeface="+mn-lt"/>
                          <a:ea typeface="+mn-ea"/>
                          <a:cs typeface="+mn-cs"/>
                        </a:rPr>
                        <a:t> </a:t>
                      </a:r>
                      <a:r>
                        <a:rPr lang="pt-BR" sz="1800" b="0" i="0" kern="1200" dirty="0" err="1">
                          <a:solidFill>
                            <a:schemeClr val="dk1"/>
                          </a:solidFill>
                          <a:effectLst/>
                          <a:latin typeface="+mn-lt"/>
                          <a:ea typeface="+mn-ea"/>
                          <a:cs typeface="+mn-cs"/>
                        </a:rPr>
                        <a:t>results</a:t>
                      </a:r>
                      <a:r>
                        <a:rPr lang="pt-BR" sz="1800" b="0" i="0" kern="1200" dirty="0">
                          <a:solidFill>
                            <a:schemeClr val="dk1"/>
                          </a:solidFill>
                          <a:effectLst/>
                          <a:latin typeface="+mn-lt"/>
                          <a:ea typeface="+mn-ea"/>
                          <a:cs typeface="+mn-cs"/>
                        </a:rPr>
                        <a:t>.</a:t>
                      </a:r>
                    </a:p>
                  </a:txBody>
                  <a:tcPr/>
                </a:tc>
                <a:extLst>
                  <a:ext uri="{0D108BD9-81ED-4DB2-BD59-A6C34878D82A}">
                    <a16:rowId xmlns:a16="http://schemas.microsoft.com/office/drawing/2014/main" val="1632435764"/>
                  </a:ext>
                </a:extLst>
              </a:tr>
            </a:tbl>
          </a:graphicData>
        </a:graphic>
      </p:graphicFrame>
      <p:sp>
        <p:nvSpPr>
          <p:cNvPr id="11" name="Espaço Reservado para Conteúdo 2">
            <a:extLst>
              <a:ext uri="{FF2B5EF4-FFF2-40B4-BE49-F238E27FC236}">
                <a16:creationId xmlns:a16="http://schemas.microsoft.com/office/drawing/2014/main" id="{BCB6B398-F422-7867-961A-31DF4392A4BB}"/>
              </a:ext>
            </a:extLst>
          </p:cNvPr>
          <p:cNvSpPr txBox="1">
            <a:spLocks/>
          </p:cNvSpPr>
          <p:nvPr/>
        </p:nvSpPr>
        <p:spPr>
          <a:xfrm>
            <a:off x="4834536" y="3954947"/>
            <a:ext cx="6223256" cy="184577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latin typeface="Arial" panose="020B0604020202020204" pitchFamily="34" charset="0"/>
                <a:cs typeface="Arial" panose="020B0604020202020204" pitchFamily="34" charset="0"/>
              </a:rPr>
              <a:t>At first, DuckDuckGo looks like Google. DuckDuckGo does not track information about you or share your search habits with others. It’s clean and simple search engine.</a:t>
            </a:r>
            <a:endParaRPr lang="pt-B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4587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24220-ADEC-8FBE-BE17-4EF47B2B5497}"/>
            </a:ext>
          </a:extLst>
        </p:cNvPr>
        <p:cNvGrpSpPr/>
        <p:nvPr/>
      </p:nvGrpSpPr>
      <p:grpSpPr>
        <a:xfrm>
          <a:off x="0" y="0"/>
          <a:ext cx="0" cy="0"/>
          <a:chOff x="0" y="0"/>
          <a:chExt cx="0" cy="0"/>
        </a:xfrm>
      </p:grpSpPr>
      <p:pic>
        <p:nvPicPr>
          <p:cNvPr id="3076" name="Picture 4">
            <a:extLst>
              <a:ext uri="{FF2B5EF4-FFF2-40B4-BE49-F238E27FC236}">
                <a16:creationId xmlns:a16="http://schemas.microsoft.com/office/drawing/2014/main" id="{AACCA185-7355-0ABE-14E4-05D016AB4D96}"/>
              </a:ext>
            </a:extLst>
          </p:cNvPr>
          <p:cNvPicPr>
            <a:picLocks noChangeAspect="1" noChangeArrowheads="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770" b="7770"/>
          <a:stretch/>
        </p:blipFill>
        <p:spPr bwMode="auto">
          <a:xfrm>
            <a:off x="8779268" y="2243110"/>
            <a:ext cx="1317897" cy="1113105"/>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7" name="Picture 4">
            <a:extLst>
              <a:ext uri="{FF2B5EF4-FFF2-40B4-BE49-F238E27FC236}">
                <a16:creationId xmlns:a16="http://schemas.microsoft.com/office/drawing/2014/main" id="{1E2910D3-FE05-6924-7C0F-47500FAABA98}"/>
              </a:ext>
            </a:extLst>
          </p:cNvPr>
          <p:cNvPicPr>
            <a:picLocks noChangeAspect="1" noChangeArrowheads="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33206" t="-12319" r="-33416" b="-7696"/>
          <a:stretch/>
        </p:blipFill>
        <p:spPr bwMode="auto">
          <a:xfrm>
            <a:off x="9912425" y="2867325"/>
            <a:ext cx="1317063" cy="1112400"/>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9" name="Picture 4">
            <a:extLst>
              <a:ext uri="{FF2B5EF4-FFF2-40B4-BE49-F238E27FC236}">
                <a16:creationId xmlns:a16="http://schemas.microsoft.com/office/drawing/2014/main" id="{DEA32D17-8982-AF56-6D07-97519F1C295B}"/>
              </a:ext>
            </a:extLst>
          </p:cNvPr>
          <p:cNvPicPr>
            <a:picLocks noChangeAspect="1" noChangeArrowheads="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7770" b="7770"/>
          <a:stretch/>
        </p:blipFill>
        <p:spPr bwMode="auto">
          <a:xfrm>
            <a:off x="8779267" y="3542011"/>
            <a:ext cx="1317897" cy="1113105"/>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10" name="Picture 4">
            <a:extLst>
              <a:ext uri="{FF2B5EF4-FFF2-40B4-BE49-F238E27FC236}">
                <a16:creationId xmlns:a16="http://schemas.microsoft.com/office/drawing/2014/main" id="{D362B524-0AAB-52A2-6976-32E24F79F6DB}"/>
              </a:ext>
            </a:extLst>
          </p:cNvPr>
          <p:cNvPicPr>
            <a:picLocks noChangeAspect="1" noChangeArrowheads="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t="7901" b="7901"/>
          <a:stretch/>
        </p:blipFill>
        <p:spPr bwMode="auto">
          <a:xfrm>
            <a:off x="9911591" y="4208383"/>
            <a:ext cx="1317897" cy="1113105"/>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11" name="Picture 4">
            <a:extLst>
              <a:ext uri="{FF2B5EF4-FFF2-40B4-BE49-F238E27FC236}">
                <a16:creationId xmlns:a16="http://schemas.microsoft.com/office/drawing/2014/main" id="{D1D51CB1-D27B-2F9C-0420-FE2F08B77A16}"/>
              </a:ext>
            </a:extLst>
          </p:cNvPr>
          <p:cNvPicPr>
            <a:picLocks noChangeAspect="1" noChangeArrowheads="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13690" t="-13203" r="-19361" b="-7789"/>
          <a:stretch/>
        </p:blipFill>
        <p:spPr bwMode="auto">
          <a:xfrm>
            <a:off x="9911591" y="1569129"/>
            <a:ext cx="1317063" cy="1112400"/>
          </a:xfrm>
          <a:prstGeom prst="hexagon">
            <a:avLst>
              <a:gd name="adj" fmla="val 30811"/>
              <a:gd name="vf" fmla="val 115470"/>
            </a:avLst>
          </a:prstGeom>
          <a:solidFill>
            <a:schemeClr val="bg1"/>
          </a:solidFill>
          <a:ln w="38100">
            <a:solidFill>
              <a:schemeClr val="accent1">
                <a:lumMod val="60000"/>
                <a:lumOff val="40000"/>
              </a:schemeClr>
            </a:solidFill>
          </a:ln>
        </p:spPr>
      </p:pic>
      <p:sp>
        <p:nvSpPr>
          <p:cNvPr id="13" name="Título 1">
            <a:extLst>
              <a:ext uri="{FF2B5EF4-FFF2-40B4-BE49-F238E27FC236}">
                <a16:creationId xmlns:a16="http://schemas.microsoft.com/office/drawing/2014/main" id="{CB5536F7-571B-9F45-9344-425C0FF27B55}"/>
              </a:ext>
            </a:extLst>
          </p:cNvPr>
          <p:cNvSpPr>
            <a:spLocks noGrp="1"/>
          </p:cNvSpPr>
          <p:nvPr>
            <p:ph type="title"/>
          </p:nvPr>
        </p:nvSpPr>
        <p:spPr>
          <a:xfrm>
            <a:off x="1111607" y="1056315"/>
            <a:ext cx="5313582" cy="580123"/>
          </a:xfrm>
        </p:spPr>
        <p:txBody>
          <a:bodyPr>
            <a:normAutofit/>
          </a:bodyPr>
          <a:lstStyle/>
          <a:p>
            <a:r>
              <a:rPr lang="pt-BR" dirty="0"/>
              <a:t>Chat Room</a:t>
            </a:r>
          </a:p>
        </p:txBody>
      </p:sp>
      <p:sp>
        <p:nvSpPr>
          <p:cNvPr id="14" name="Espaço Reservado para Conteúdo 2">
            <a:extLst>
              <a:ext uri="{FF2B5EF4-FFF2-40B4-BE49-F238E27FC236}">
                <a16:creationId xmlns:a16="http://schemas.microsoft.com/office/drawing/2014/main" id="{9CF693B5-FD86-5388-DE2F-E23D49757137}"/>
              </a:ext>
            </a:extLst>
          </p:cNvPr>
          <p:cNvSpPr>
            <a:spLocks noGrp="1"/>
          </p:cNvSpPr>
          <p:nvPr>
            <p:ph idx="1"/>
          </p:nvPr>
        </p:nvSpPr>
        <p:spPr>
          <a:xfrm>
            <a:off x="1304925" y="1839198"/>
            <a:ext cx="7029450" cy="3179603"/>
          </a:xfrm>
        </p:spPr>
        <p:txBody>
          <a:bodyPr>
            <a:normAutofit/>
          </a:bodyPr>
          <a:lstStyle/>
          <a:p>
            <a:pPr marL="0" indent="0" algn="just">
              <a:lnSpc>
                <a:spcPct val="110000"/>
              </a:lnSpc>
              <a:buNone/>
            </a:pPr>
            <a:r>
              <a:rPr lang="en-US" dirty="0">
                <a:latin typeface="Arial" panose="020B0604020202020204" pitchFamily="34" charset="0"/>
                <a:cs typeface="Arial" panose="020B0604020202020204" pitchFamily="34" charset="0"/>
              </a:rPr>
              <a:t>	Chat rooms is a platform for real-time communication and collaboration. Engaging in these spaces allows researchers to share insights, ask questions, and network with peers. It’s essential for maintaining a professional environment during discussions. This type of Chat is technically just a casual conversation.</a:t>
            </a:r>
          </a:p>
        </p:txBody>
      </p:sp>
    </p:spTree>
    <p:extLst>
      <p:ext uri="{BB962C8B-B14F-4D97-AF65-F5344CB8AC3E}">
        <p14:creationId xmlns:p14="http://schemas.microsoft.com/office/powerpoint/2010/main" val="1132563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558C2D10-754C-1CC0-0562-CFE4EFF449E1}"/>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6070" r="16064"/>
          <a:stretch/>
        </p:blipFill>
        <p:spPr bwMode="auto">
          <a:xfrm>
            <a:off x="20" y="-1"/>
            <a:ext cx="4654276" cy="6857999"/>
          </a:xfrm>
          <a:prstGeom prst="rect">
            <a:avLst/>
          </a:prstGeom>
          <a:solidFill>
            <a:schemeClr val="bg1"/>
          </a:solidFill>
        </p:spPr>
      </p:pic>
      <p:sp>
        <p:nvSpPr>
          <p:cNvPr id="13" name="Freeform: Shape 12">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F9823A06-491A-D34A-F120-C8ABD9027B34}"/>
              </a:ext>
            </a:extLst>
          </p:cNvPr>
          <p:cNvSpPr>
            <a:spLocks noGrp="1"/>
          </p:cNvSpPr>
          <p:nvPr>
            <p:ph type="title"/>
          </p:nvPr>
        </p:nvSpPr>
        <p:spPr>
          <a:xfrm>
            <a:off x="4778119" y="1061382"/>
            <a:ext cx="3481988" cy="519768"/>
          </a:xfrm>
          <a:noFill/>
        </p:spPr>
        <p:txBody>
          <a:bodyPr>
            <a:normAutofit fontScale="90000"/>
          </a:bodyPr>
          <a:lstStyle/>
          <a:p>
            <a:r>
              <a:rPr lang="pt-BR" dirty="0"/>
              <a:t>Discord</a:t>
            </a:r>
          </a:p>
        </p:txBody>
      </p:sp>
      <p:sp>
        <p:nvSpPr>
          <p:cNvPr id="7" name="Espaço Reservado para Conteúdo 6">
            <a:extLst>
              <a:ext uri="{FF2B5EF4-FFF2-40B4-BE49-F238E27FC236}">
                <a16:creationId xmlns:a16="http://schemas.microsoft.com/office/drawing/2014/main" id="{8A9D8C42-39CD-8C3E-9772-7A8171E59BAB}"/>
              </a:ext>
            </a:extLst>
          </p:cNvPr>
          <p:cNvSpPr>
            <a:spLocks noGrp="1"/>
          </p:cNvSpPr>
          <p:nvPr>
            <p:ph idx="1"/>
          </p:nvPr>
        </p:nvSpPr>
        <p:spPr>
          <a:xfrm>
            <a:off x="4914900" y="1710675"/>
            <a:ext cx="5740203" cy="3985275"/>
          </a:xfrm>
        </p:spPr>
        <p:txBody>
          <a:bodyPr>
            <a:noAutofit/>
          </a:bodyPr>
          <a:lstStyle/>
          <a:p>
            <a:r>
              <a:rPr lang="en-US" b="0" i="0" dirty="0">
                <a:effectLst/>
                <a:latin typeface="Arial" panose="020B0604020202020204" pitchFamily="34" charset="0"/>
                <a:cs typeface="Arial" panose="020B0604020202020204" pitchFamily="34" charset="0"/>
              </a:rPr>
              <a:t>With over 150 million active users, Discord allows people to join servers (chat rooms) based on shared interests, including gaming, art, tech, fitness, music, and more. </a:t>
            </a:r>
          </a:p>
          <a:p>
            <a:r>
              <a:rPr lang="en-US" b="0" i="0" dirty="0">
                <a:effectLst/>
                <a:latin typeface="Arial" panose="020B0604020202020204" pitchFamily="34" charset="0"/>
                <a:cs typeface="Arial" panose="020B0604020202020204" pitchFamily="34" charset="0"/>
              </a:rPr>
              <a:t>Users can chat via text, voice, or video, making it one of the most dynamic platforms for both casual and serious discussions.</a:t>
            </a:r>
          </a:p>
          <a:p>
            <a:r>
              <a:rPr lang="en-US" b="1" i="0" dirty="0">
                <a:effectLst/>
                <a:latin typeface="Arial" panose="020B0604020202020204" pitchFamily="34" charset="0"/>
                <a:cs typeface="Arial" panose="020B0604020202020204" pitchFamily="34" charset="0"/>
              </a:rPr>
              <a:t>Why It's Great</a:t>
            </a:r>
            <a:r>
              <a:rPr lang="en-US" b="0" i="0" dirty="0">
                <a:effectLst/>
                <a:latin typeface="Arial" panose="020B0604020202020204" pitchFamily="34" charset="0"/>
                <a:cs typeface="Arial" panose="020B0604020202020204" pitchFamily="34" charset="0"/>
              </a:rPr>
              <a:t>: Discord offers a wide variety of niche communities, allowing users to find spaces tailored to their specific interests.</a:t>
            </a:r>
            <a:endParaRPr lang="pt-B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2304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A5C2-FD81-9758-32C6-432FB5B52F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9D6606-2602-6C30-A9F1-BAE548D9E552}"/>
              </a:ext>
            </a:extLst>
          </p:cNvPr>
          <p:cNvSpPr>
            <a:spLocks noGrp="1"/>
          </p:cNvSpPr>
          <p:nvPr>
            <p:ph type="title"/>
          </p:nvPr>
        </p:nvSpPr>
        <p:spPr>
          <a:xfrm>
            <a:off x="1111607" y="1056315"/>
            <a:ext cx="5313582" cy="580123"/>
          </a:xfrm>
        </p:spPr>
        <p:txBody>
          <a:bodyPr>
            <a:normAutofit/>
          </a:bodyPr>
          <a:lstStyle/>
          <a:p>
            <a:r>
              <a:rPr lang="pt-BR" dirty="0"/>
              <a:t>Video conferencing</a:t>
            </a:r>
          </a:p>
        </p:txBody>
      </p:sp>
      <p:sp>
        <p:nvSpPr>
          <p:cNvPr id="3" name="Espaço Reservado para Conteúdo 2">
            <a:extLst>
              <a:ext uri="{FF2B5EF4-FFF2-40B4-BE49-F238E27FC236}">
                <a16:creationId xmlns:a16="http://schemas.microsoft.com/office/drawing/2014/main" id="{7025741D-27A6-D2A9-CAA3-CC42266317CD}"/>
              </a:ext>
            </a:extLst>
          </p:cNvPr>
          <p:cNvSpPr>
            <a:spLocks noGrp="1"/>
          </p:cNvSpPr>
          <p:nvPr>
            <p:ph idx="1"/>
          </p:nvPr>
        </p:nvSpPr>
        <p:spPr>
          <a:xfrm>
            <a:off x="1304925" y="1839198"/>
            <a:ext cx="6838950" cy="1517017"/>
          </a:xfrm>
        </p:spPr>
        <p:txBody>
          <a:bodyPr>
            <a:normAutofit/>
          </a:bodyPr>
          <a:lstStyle/>
          <a:p>
            <a:pPr marL="0" indent="0" algn="just">
              <a:lnSpc>
                <a:spcPct val="110000"/>
              </a:lnSpc>
              <a:buNone/>
            </a:pPr>
            <a:r>
              <a:rPr lang="en-US" dirty="0">
                <a:latin typeface="Arial" panose="020B0604020202020204" pitchFamily="34" charset="0"/>
                <a:cs typeface="Arial" panose="020B0604020202020204" pitchFamily="34" charset="0"/>
              </a:rPr>
              <a:t>Video conferencing is a real-time communication method that enables individuals or groups to connect and interact via audio and video transmission over the Internet. </a:t>
            </a:r>
          </a:p>
          <a:p>
            <a:pPr marL="0" indent="0" algn="just">
              <a:lnSpc>
                <a:spcPct val="110000"/>
              </a:lnSpc>
              <a:buNone/>
            </a:pPr>
            <a:r>
              <a:rPr lang="en-US" dirty="0">
                <a:latin typeface="Arial" panose="020B0604020202020204" pitchFamily="34" charset="0"/>
                <a:cs typeface="Arial" panose="020B0604020202020204" pitchFamily="34" charset="0"/>
              </a:rPr>
              <a:t>Think of it as a virtual meeting room where you can:</a:t>
            </a:r>
          </a:p>
          <a:p>
            <a:pPr marL="0" indent="0" algn="just">
              <a:lnSpc>
                <a:spcPct val="110000"/>
              </a:lnSpc>
              <a:buNone/>
            </a:pPr>
            <a:endParaRPr lang="pt-BR" dirty="0">
              <a:latin typeface="Arial" panose="020B0604020202020204" pitchFamily="34" charset="0"/>
              <a:cs typeface="Arial" panose="020B0604020202020204" pitchFamily="34" charset="0"/>
            </a:endParaRPr>
          </a:p>
        </p:txBody>
      </p:sp>
      <p:pic>
        <p:nvPicPr>
          <p:cNvPr id="3076" name="Picture 4">
            <a:extLst>
              <a:ext uri="{FF2B5EF4-FFF2-40B4-BE49-F238E27FC236}">
                <a16:creationId xmlns:a16="http://schemas.microsoft.com/office/drawing/2014/main" id="{738AA28C-7161-FEB1-02CE-1C8BEEE031C4}"/>
              </a:ext>
            </a:extLst>
          </p:cNvPr>
          <p:cNvPicPr>
            <a:picLocks noChangeAspect="1" noChangeArrowheads="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7341" t="-18952" r="-28369" b="-12563"/>
          <a:stretch/>
        </p:blipFill>
        <p:spPr bwMode="auto">
          <a:xfrm>
            <a:off x="8779268" y="2243110"/>
            <a:ext cx="1317897" cy="1113105"/>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7" name="Picture 4">
            <a:extLst>
              <a:ext uri="{FF2B5EF4-FFF2-40B4-BE49-F238E27FC236}">
                <a16:creationId xmlns:a16="http://schemas.microsoft.com/office/drawing/2014/main" id="{9F52C31D-E84A-AEF5-01D9-111CEC96D84B}"/>
              </a:ext>
            </a:extLst>
          </p:cNvPr>
          <p:cNvPicPr>
            <a:picLocks noChangeAspect="1" noChangeArrowheads="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0586" t="-43382" r="-11610" b="-40098"/>
          <a:stretch/>
        </p:blipFill>
        <p:spPr bwMode="auto">
          <a:xfrm>
            <a:off x="9912425" y="2867325"/>
            <a:ext cx="1317063" cy="1112400"/>
          </a:xfrm>
          <a:prstGeom prst="hexagon">
            <a:avLst>
              <a:gd name="adj" fmla="val 30811"/>
              <a:gd name="vf" fmla="val 115470"/>
            </a:avLst>
          </a:prstGeom>
          <a:solidFill>
            <a:schemeClr val="bg1"/>
          </a:solidFill>
          <a:ln w="38100">
            <a:solidFill>
              <a:schemeClr val="accent1">
                <a:lumMod val="60000"/>
                <a:lumOff val="40000"/>
              </a:schemeClr>
            </a:solidFill>
          </a:ln>
        </p:spPr>
      </p:pic>
      <p:sp>
        <p:nvSpPr>
          <p:cNvPr id="5" name="Espaço Reservado para Conteúdo 2">
            <a:extLst>
              <a:ext uri="{FF2B5EF4-FFF2-40B4-BE49-F238E27FC236}">
                <a16:creationId xmlns:a16="http://schemas.microsoft.com/office/drawing/2014/main" id="{15855812-E246-0659-5803-6722B2C7BEB6}"/>
              </a:ext>
            </a:extLst>
          </p:cNvPr>
          <p:cNvSpPr txBox="1">
            <a:spLocks/>
          </p:cNvSpPr>
          <p:nvPr/>
        </p:nvSpPr>
        <p:spPr>
          <a:xfrm>
            <a:off x="1304925" y="3423525"/>
            <a:ext cx="6838950" cy="2139076"/>
          </a:xfrm>
          <a:prstGeom prst="rect">
            <a:avLst/>
          </a:prstGeom>
        </p:spPr>
        <p:txBody>
          <a:bodyPr vert="horz" lIns="91440" tIns="45720" rIns="91440" bIns="45720" rtlCol="0">
            <a:normAutofit/>
          </a:bodyPr>
          <a:lstStyle>
            <a:lvl1pPr indent="0" algn="just">
              <a:lnSpc>
                <a:spcPct val="110000"/>
              </a:lnSpc>
              <a:spcBef>
                <a:spcPts val="1000"/>
              </a:spcBef>
              <a:buFont typeface="Arial" panose="020B0604020202020204" pitchFamily="34" charset="0"/>
              <a:buNone/>
              <a:defRPr>
                <a:latin typeface="Arial" panose="020B0604020202020204" pitchFamily="34" charset="0"/>
                <a:cs typeface="Arial" panose="020B0604020202020204" pitchFamily="34" charset="0"/>
              </a:defRPr>
            </a:lvl1pPr>
            <a:lvl2pPr marL="685800" indent="-228600">
              <a:lnSpc>
                <a:spcPct val="120000"/>
              </a:lnSpc>
              <a:spcBef>
                <a:spcPts val="500"/>
              </a:spcBef>
              <a:buFont typeface="Arial" panose="020B0604020202020204" pitchFamily="34" charset="0"/>
              <a:buChar char="•"/>
              <a:defRPr sz="1600"/>
            </a:lvl2pPr>
            <a:lvl3pPr marL="1143000" indent="-228600">
              <a:lnSpc>
                <a:spcPct val="120000"/>
              </a:lnSpc>
              <a:spcBef>
                <a:spcPts val="500"/>
              </a:spcBef>
              <a:buFont typeface="Arial" panose="020B0604020202020204" pitchFamily="34" charset="0"/>
              <a:buChar char="•"/>
              <a:defRPr sz="1400"/>
            </a:lvl3pPr>
            <a:lvl4pPr marL="1600200" indent="-228600">
              <a:lnSpc>
                <a:spcPct val="120000"/>
              </a:lnSpc>
              <a:spcBef>
                <a:spcPts val="500"/>
              </a:spcBef>
              <a:buFont typeface="Arial" panose="020B0604020202020204" pitchFamily="34" charset="0"/>
              <a:buChar char="•"/>
              <a:defRPr sz="1200"/>
            </a:lvl4pPr>
            <a:lvl5pPr marL="2057400" indent="-228600">
              <a:lnSpc>
                <a:spcPct val="120000"/>
              </a:lnSpc>
              <a:spcBef>
                <a:spcPts val="500"/>
              </a:spcBef>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defRPr/>
            </a:lvl6pPr>
            <a:lvl7pPr marL="2971800" indent="-228600">
              <a:lnSpc>
                <a:spcPct val="90000"/>
              </a:lnSpc>
              <a:spcBef>
                <a:spcPts val="500"/>
              </a:spcBef>
              <a:buFont typeface="Arial" panose="020B0604020202020204" pitchFamily="34" charset="0"/>
              <a:buChar char="•"/>
              <a:defRPr/>
            </a:lvl7pPr>
            <a:lvl8pPr marL="3429000" indent="-228600">
              <a:lnSpc>
                <a:spcPct val="90000"/>
              </a:lnSpc>
              <a:spcBef>
                <a:spcPts val="500"/>
              </a:spcBef>
              <a:buFont typeface="Arial" panose="020B0604020202020204" pitchFamily="34" charset="0"/>
              <a:buChar char="•"/>
              <a:defRPr/>
            </a:lvl8pPr>
            <a:lvl9pPr marL="3886200" indent="-228600">
              <a:lnSpc>
                <a:spcPct val="90000"/>
              </a:lnSpc>
              <a:spcBef>
                <a:spcPts val="500"/>
              </a:spcBef>
              <a:buFont typeface="Arial" panose="020B0604020202020204" pitchFamily="34" charset="0"/>
              <a:buChar char="•"/>
              <a:defRPr/>
            </a:lvl9pPr>
          </a:lstStyle>
          <a:p>
            <a:pPr marL="285750" indent="-285750">
              <a:buFont typeface="Arial" panose="020B0604020202020204" pitchFamily="34" charset="0"/>
              <a:buChar char="•"/>
            </a:pPr>
            <a:r>
              <a:rPr lang="pt-BR" sz="1600" b="1" dirty="0" err="1"/>
              <a:t>See</a:t>
            </a:r>
            <a:r>
              <a:rPr lang="pt-BR" sz="1600" b="1" dirty="0"/>
              <a:t> and </a:t>
            </a:r>
            <a:r>
              <a:rPr lang="pt-BR" sz="1600" b="1" dirty="0" err="1"/>
              <a:t>be</a:t>
            </a:r>
            <a:r>
              <a:rPr lang="pt-BR" sz="1600" b="1" dirty="0"/>
              <a:t> </a:t>
            </a:r>
            <a:r>
              <a:rPr lang="pt-BR" sz="1600" b="1" dirty="0" err="1"/>
              <a:t>seen</a:t>
            </a:r>
            <a:r>
              <a:rPr lang="pt-BR" sz="1600" dirty="0"/>
              <a:t>;</a:t>
            </a:r>
          </a:p>
          <a:p>
            <a:pPr marL="285750" indent="-285750">
              <a:buFont typeface="Arial" panose="020B0604020202020204" pitchFamily="34" charset="0"/>
              <a:buChar char="•"/>
            </a:pPr>
            <a:r>
              <a:rPr lang="pt-BR" sz="1600" b="1" dirty="0" err="1"/>
              <a:t>Collaborate</a:t>
            </a:r>
            <a:r>
              <a:rPr lang="pt-BR" sz="1600" b="1" dirty="0"/>
              <a:t> </a:t>
            </a:r>
            <a:r>
              <a:rPr lang="pt-BR" sz="1600" b="1" dirty="0" err="1"/>
              <a:t>seamlessly</a:t>
            </a:r>
            <a:r>
              <a:rPr lang="pt-BR" sz="1600" b="1" dirty="0"/>
              <a:t>:</a:t>
            </a:r>
            <a:r>
              <a:rPr lang="pt-BR" sz="1600" dirty="0"/>
              <a:t> </a:t>
            </a:r>
            <a:r>
              <a:rPr lang="en-US" sz="1600" dirty="0"/>
              <a:t>Share documents, presentations, and whiteboards in real-time, fostering brainstorming and joint problem-solving.</a:t>
            </a:r>
          </a:p>
          <a:p>
            <a:pPr marL="285750" indent="-285750">
              <a:buFont typeface="Arial" panose="020B0604020202020204" pitchFamily="34" charset="0"/>
              <a:buChar char="•"/>
            </a:pPr>
            <a:r>
              <a:rPr lang="pt-BR" sz="1600" b="1" dirty="0"/>
              <a:t>Connect </a:t>
            </a:r>
            <a:r>
              <a:rPr lang="pt-BR" sz="1600" b="1" dirty="0" err="1"/>
              <a:t>globally</a:t>
            </a:r>
            <a:r>
              <a:rPr lang="pt-BR" sz="1600" b="1" dirty="0"/>
              <a:t>;</a:t>
            </a:r>
          </a:p>
        </p:txBody>
      </p:sp>
      <p:pic>
        <p:nvPicPr>
          <p:cNvPr id="9" name="Picture 4">
            <a:extLst>
              <a:ext uri="{FF2B5EF4-FFF2-40B4-BE49-F238E27FC236}">
                <a16:creationId xmlns:a16="http://schemas.microsoft.com/office/drawing/2014/main" id="{238D1CA6-83DF-ADD4-6AD0-824F413D0553}"/>
              </a:ext>
            </a:extLst>
          </p:cNvPr>
          <p:cNvPicPr>
            <a:picLocks noChangeAspect="1" noChangeArrowheads="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7770" b="7770"/>
          <a:stretch/>
        </p:blipFill>
        <p:spPr bwMode="auto">
          <a:xfrm>
            <a:off x="8779267" y="3542011"/>
            <a:ext cx="1317897" cy="1113105"/>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10" name="Picture 4">
            <a:extLst>
              <a:ext uri="{FF2B5EF4-FFF2-40B4-BE49-F238E27FC236}">
                <a16:creationId xmlns:a16="http://schemas.microsoft.com/office/drawing/2014/main" id="{063D62F0-2613-8942-519E-63CA8686F174}"/>
              </a:ext>
            </a:extLst>
          </p:cNvPr>
          <p:cNvPicPr>
            <a:picLocks noChangeAspect="1" noChangeArrowheads="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18871" t="-49737" r="-16964" b="-54220"/>
          <a:stretch/>
        </p:blipFill>
        <p:spPr bwMode="auto">
          <a:xfrm>
            <a:off x="9911591" y="4208383"/>
            <a:ext cx="1317897" cy="1113105"/>
          </a:xfrm>
          <a:prstGeom prst="hexagon">
            <a:avLst>
              <a:gd name="adj" fmla="val 30811"/>
              <a:gd name="vf" fmla="val 115470"/>
            </a:avLst>
          </a:prstGeom>
          <a:solidFill>
            <a:schemeClr val="bg1"/>
          </a:solidFill>
          <a:ln w="38100">
            <a:solidFill>
              <a:schemeClr val="accent1">
                <a:lumMod val="60000"/>
                <a:lumOff val="40000"/>
              </a:schemeClr>
            </a:solidFill>
          </a:ln>
        </p:spPr>
      </p:pic>
      <p:pic>
        <p:nvPicPr>
          <p:cNvPr id="11" name="Picture 4">
            <a:extLst>
              <a:ext uri="{FF2B5EF4-FFF2-40B4-BE49-F238E27FC236}">
                <a16:creationId xmlns:a16="http://schemas.microsoft.com/office/drawing/2014/main" id="{91DABB31-ED77-2D59-4CD5-5A385CF64851}"/>
              </a:ext>
            </a:extLst>
          </p:cNvPr>
          <p:cNvPicPr>
            <a:picLocks noChangeAspect="1" noChangeArrowheads="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7293" t="-25786" r="-7220" b="-19295"/>
          <a:stretch/>
        </p:blipFill>
        <p:spPr bwMode="auto">
          <a:xfrm>
            <a:off x="9911591" y="1569129"/>
            <a:ext cx="1317063" cy="1112400"/>
          </a:xfrm>
          <a:prstGeom prst="hexagon">
            <a:avLst>
              <a:gd name="adj" fmla="val 30811"/>
              <a:gd name="vf" fmla="val 115470"/>
            </a:avLst>
          </a:prstGeom>
          <a:solidFill>
            <a:schemeClr val="bg1"/>
          </a:solidFill>
          <a:ln w="38100">
            <a:solidFill>
              <a:schemeClr val="accent1">
                <a:lumMod val="60000"/>
                <a:lumOff val="40000"/>
              </a:schemeClr>
            </a:solidFill>
          </a:ln>
        </p:spPr>
      </p:pic>
    </p:spTree>
    <p:extLst>
      <p:ext uri="{BB962C8B-B14F-4D97-AF65-F5344CB8AC3E}">
        <p14:creationId xmlns:p14="http://schemas.microsoft.com/office/powerpoint/2010/main" val="1639656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BFBB13C-9C40-D794-6CB8-4100AB0D999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E2C3B9A-B4D2-F54D-15F0-06653E183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068CEB5-F191-9D3E-BAC0-B0E212720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4" descr="Ícone&#10;&#10;Descrição gerada automaticamente com confiança baixa">
            <a:extLst>
              <a:ext uri="{FF2B5EF4-FFF2-40B4-BE49-F238E27FC236}">
                <a16:creationId xmlns:a16="http://schemas.microsoft.com/office/drawing/2014/main" id="{59EC4F44-64A9-356C-7B30-797AC10A507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0172" r="31653"/>
          <a:stretch/>
        </p:blipFill>
        <p:spPr bwMode="auto">
          <a:xfrm>
            <a:off x="20" y="-1"/>
            <a:ext cx="4654276" cy="6857999"/>
          </a:xfrm>
          <a:prstGeom prst="rect">
            <a:avLst/>
          </a:prstGeom>
          <a:solidFill>
            <a:schemeClr val="bg1"/>
          </a:solidFill>
        </p:spPr>
      </p:pic>
      <p:sp>
        <p:nvSpPr>
          <p:cNvPr id="25" name="Freeform: Shape 24">
            <a:extLst>
              <a:ext uri="{FF2B5EF4-FFF2-40B4-BE49-F238E27FC236}">
                <a16:creationId xmlns:a16="http://schemas.microsoft.com/office/drawing/2014/main" id="{9464ED38-224B-AB8F-2B4A-18C5B2BE0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884" y="931856"/>
            <a:ext cx="10318890" cy="4994960"/>
          </a:xfrm>
          <a:custGeom>
            <a:avLst/>
            <a:gdLst>
              <a:gd name="connsiteX0" fmla="*/ 0 w 4172596"/>
              <a:gd name="connsiteY0" fmla="*/ 0 h 4952999"/>
              <a:gd name="connsiteX1" fmla="*/ 4172596 w 4172596"/>
              <a:gd name="connsiteY1" fmla="*/ 0 h 4952999"/>
              <a:gd name="connsiteX2" fmla="*/ 4172596 w 4172596"/>
              <a:gd name="connsiteY2" fmla="*/ 342900 h 4952999"/>
              <a:gd name="connsiteX3" fmla="*/ 3239761 w 4172596"/>
              <a:gd name="connsiteY3" fmla="*/ 342900 h 4952999"/>
              <a:gd name="connsiteX4" fmla="*/ 3239761 w 4172596"/>
              <a:gd name="connsiteY4" fmla="*/ 1934392 h 4952999"/>
              <a:gd name="connsiteX5" fmla="*/ 4172596 w 4172596"/>
              <a:gd name="connsiteY5" fmla="*/ 1934392 h 4952999"/>
              <a:gd name="connsiteX6" fmla="*/ 4172596 w 4172596"/>
              <a:gd name="connsiteY6" fmla="*/ 4952999 h 4952999"/>
              <a:gd name="connsiteX7" fmla="*/ 0 w 4172596"/>
              <a:gd name="connsiteY7" fmla="*/ 4952999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8" fmla="*/ 3331201 w 4172596"/>
              <a:gd name="connsiteY8" fmla="*/ 2025832 h 4952999"/>
              <a:gd name="connsiteX0" fmla="*/ 3239761 w 4172596"/>
              <a:gd name="connsiteY0" fmla="*/ 1934392 h 4952999"/>
              <a:gd name="connsiteX1" fmla="*/ 4172596 w 4172596"/>
              <a:gd name="connsiteY1" fmla="*/ 1934392 h 4952999"/>
              <a:gd name="connsiteX2" fmla="*/ 4172596 w 4172596"/>
              <a:gd name="connsiteY2" fmla="*/ 4952999 h 4952999"/>
              <a:gd name="connsiteX3" fmla="*/ 0 w 4172596"/>
              <a:gd name="connsiteY3" fmla="*/ 4952999 h 4952999"/>
              <a:gd name="connsiteX4" fmla="*/ 0 w 4172596"/>
              <a:gd name="connsiteY4" fmla="*/ 0 h 4952999"/>
              <a:gd name="connsiteX5" fmla="*/ 4172596 w 4172596"/>
              <a:gd name="connsiteY5" fmla="*/ 0 h 4952999"/>
              <a:gd name="connsiteX6" fmla="*/ 4172596 w 4172596"/>
              <a:gd name="connsiteY6" fmla="*/ 342900 h 4952999"/>
              <a:gd name="connsiteX7" fmla="*/ 3239761 w 4172596"/>
              <a:gd name="connsiteY7"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 name="connsiteX6" fmla="*/ 3239761 w 4172596"/>
              <a:gd name="connsiteY6" fmla="*/ 342900 h 4952999"/>
              <a:gd name="connsiteX0" fmla="*/ 4172596 w 4172596"/>
              <a:gd name="connsiteY0" fmla="*/ 1934392 h 4952999"/>
              <a:gd name="connsiteX1" fmla="*/ 4172596 w 4172596"/>
              <a:gd name="connsiteY1" fmla="*/ 4952999 h 4952999"/>
              <a:gd name="connsiteX2" fmla="*/ 0 w 4172596"/>
              <a:gd name="connsiteY2" fmla="*/ 4952999 h 4952999"/>
              <a:gd name="connsiteX3" fmla="*/ 0 w 4172596"/>
              <a:gd name="connsiteY3" fmla="*/ 0 h 4952999"/>
              <a:gd name="connsiteX4" fmla="*/ 4172596 w 4172596"/>
              <a:gd name="connsiteY4" fmla="*/ 0 h 4952999"/>
              <a:gd name="connsiteX5" fmla="*/ 4172596 w 4172596"/>
              <a:gd name="connsiteY5" fmla="*/ 342900 h 49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596" h="4952999">
                <a:moveTo>
                  <a:pt x="4172596" y="1934392"/>
                </a:moveTo>
                <a:lnTo>
                  <a:pt x="4172596" y="4952999"/>
                </a:lnTo>
                <a:lnTo>
                  <a:pt x="0" y="4952999"/>
                </a:lnTo>
                <a:lnTo>
                  <a:pt x="0" y="0"/>
                </a:lnTo>
                <a:lnTo>
                  <a:pt x="4172596" y="0"/>
                </a:lnTo>
                <a:lnTo>
                  <a:pt x="4172596" y="342900"/>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424DBBED-39DF-99CB-9AFC-059FC9B0E151}"/>
              </a:ext>
            </a:extLst>
          </p:cNvPr>
          <p:cNvSpPr>
            <a:spLocks noGrp="1"/>
          </p:cNvSpPr>
          <p:nvPr>
            <p:ph type="title"/>
          </p:nvPr>
        </p:nvSpPr>
        <p:spPr>
          <a:xfrm>
            <a:off x="4825743" y="1150259"/>
            <a:ext cx="4988781" cy="630916"/>
          </a:xfrm>
          <a:noFill/>
        </p:spPr>
        <p:txBody>
          <a:bodyPr>
            <a:normAutofit/>
          </a:bodyPr>
          <a:lstStyle/>
          <a:p>
            <a:r>
              <a:rPr lang="pt-BR" dirty="0"/>
              <a:t>Microsoft </a:t>
            </a:r>
            <a:r>
              <a:rPr lang="pt-BR" dirty="0" err="1"/>
              <a:t>teams</a:t>
            </a:r>
            <a:endParaRPr lang="pt-BR" dirty="0"/>
          </a:p>
        </p:txBody>
      </p:sp>
      <p:sp>
        <p:nvSpPr>
          <p:cNvPr id="7" name="Espaço Reservado para Conteúdo 6">
            <a:extLst>
              <a:ext uri="{FF2B5EF4-FFF2-40B4-BE49-F238E27FC236}">
                <a16:creationId xmlns:a16="http://schemas.microsoft.com/office/drawing/2014/main" id="{9D37A6A8-82C4-120B-5FF0-07574D2398DF}"/>
              </a:ext>
            </a:extLst>
          </p:cNvPr>
          <p:cNvSpPr>
            <a:spLocks noGrp="1"/>
          </p:cNvSpPr>
          <p:nvPr>
            <p:ph idx="1"/>
          </p:nvPr>
        </p:nvSpPr>
        <p:spPr>
          <a:xfrm>
            <a:off x="5043315" y="1999578"/>
            <a:ext cx="5872335" cy="2877222"/>
          </a:xfrm>
        </p:spPr>
        <p:txBody>
          <a:bodyPr>
            <a:normAutofit/>
          </a:bodyPr>
          <a:lstStyle/>
          <a:p>
            <a:pPr algn="just"/>
            <a:r>
              <a:rPr lang="en-US" b="0" i="0" dirty="0">
                <a:effectLst/>
                <a:latin typeface="Arial" panose="020B0604020202020204" pitchFamily="34" charset="0"/>
                <a:cs typeface="Arial" panose="020B0604020202020204" pitchFamily="34" charset="0"/>
              </a:rPr>
              <a:t>It’s a Great video conferencing that integrates seamlessly with Microsoft Office 365</a:t>
            </a:r>
          </a:p>
          <a:p>
            <a:pPr algn="just"/>
            <a:r>
              <a:rPr lang="pt-BR" dirty="0">
                <a:latin typeface="Arial" panose="020B0604020202020204" pitchFamily="34" charset="0"/>
                <a:cs typeface="Arial" panose="020B0604020202020204" pitchFamily="34" charset="0"/>
              </a:rPr>
              <a:t>This app have a great </a:t>
            </a:r>
            <a:r>
              <a:rPr lang="en-US" dirty="0">
                <a:latin typeface="Arial" panose="020B0604020202020204" pitchFamily="34" charset="0"/>
                <a:cs typeface="Arial" panose="020B0604020202020204" pitchFamily="34" charset="0"/>
              </a:rPr>
              <a:t>v</a:t>
            </a:r>
            <a:r>
              <a:rPr lang="en-US" b="0" i="0" dirty="0">
                <a:effectLst/>
                <a:latin typeface="Arial" panose="020B0604020202020204" pitchFamily="34" charset="0"/>
                <a:cs typeface="Arial" panose="020B0604020202020204" pitchFamily="34" charset="0"/>
              </a:rPr>
              <a:t>ideo quality is and works with large calls</a:t>
            </a:r>
          </a:p>
          <a:p>
            <a:pPr algn="just"/>
            <a:r>
              <a:rPr lang="en-US" b="0" i="0" dirty="0">
                <a:effectLst/>
                <a:latin typeface="Arial" panose="020B0604020202020204" pitchFamily="34" charset="0"/>
                <a:cs typeface="Arial" panose="020B0604020202020204" pitchFamily="34" charset="0"/>
              </a:rPr>
              <a:t>Teams used to be bundled with basically every business version of Microsoft Office making it effectively free.</a:t>
            </a:r>
          </a:p>
          <a:p>
            <a:pPr algn="just"/>
            <a:endParaRPr lang="pt-B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834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F5D87-1356-EC2B-7188-A93D8C1F171B}"/>
              </a:ext>
            </a:extLst>
          </p:cNvPr>
          <p:cNvSpPr>
            <a:spLocks noGrp="1"/>
          </p:cNvSpPr>
          <p:nvPr>
            <p:ph type="title"/>
          </p:nvPr>
        </p:nvSpPr>
        <p:spPr/>
        <p:txBody>
          <a:bodyPr/>
          <a:lstStyle/>
          <a:p>
            <a:r>
              <a:rPr lang="pt-BR" dirty="0" err="1"/>
              <a:t>Thank</a:t>
            </a:r>
            <a:r>
              <a:rPr lang="pt-BR" dirty="0"/>
              <a:t> </a:t>
            </a:r>
            <a:r>
              <a:rPr lang="pt-BR" dirty="0" err="1"/>
              <a:t>you</a:t>
            </a:r>
            <a:r>
              <a:rPr lang="pt-BR" dirty="0"/>
              <a:t>!</a:t>
            </a:r>
          </a:p>
        </p:txBody>
      </p:sp>
      <p:pic>
        <p:nvPicPr>
          <p:cNvPr id="8194" name="Picture 2" descr="TV gif. White script scrolls across the red ringed Looney Tunes closing credit background. Text, &quot;That's all folks!&quot;">
            <a:extLst>
              <a:ext uri="{FF2B5EF4-FFF2-40B4-BE49-F238E27FC236}">
                <a16:creationId xmlns:a16="http://schemas.microsoft.com/office/drawing/2014/main" id="{8563F2AB-6D4F-F65D-7A4E-606DFC233B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9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966263"/>
      </p:ext>
    </p:extLst>
  </p:cSld>
  <p:clrMapOvr>
    <a:masterClrMapping/>
  </p:clrMapOvr>
</p:sld>
</file>

<file path=ppt/theme/theme1.xml><?xml version="1.0" encoding="utf-8"?>
<a:theme xmlns:a="http://schemas.openxmlformats.org/drawingml/2006/main" name="LimelightVTI">
  <a:themeElements>
    <a:clrScheme name="Limelight">
      <a:dk1>
        <a:sysClr val="windowText" lastClr="000000"/>
      </a:dk1>
      <a:lt1>
        <a:sysClr val="window" lastClr="FFFFFF"/>
      </a:lt1>
      <a:dk2>
        <a:srgbClr val="23353B"/>
      </a:dk2>
      <a:lt2>
        <a:srgbClr val="E0DDD8"/>
      </a:lt2>
      <a:accent1>
        <a:srgbClr val="90A208"/>
      </a:accent1>
      <a:accent2>
        <a:srgbClr val="6A8755"/>
      </a:accent2>
      <a:accent3>
        <a:srgbClr val="49716B"/>
      </a:accent3>
      <a:accent4>
        <a:srgbClr val="A16F7C"/>
      </a:accent4>
      <a:accent5>
        <a:srgbClr val="B16455"/>
      </a:accent5>
      <a:accent6>
        <a:srgbClr val="E08350"/>
      </a:accent6>
      <a:hlink>
        <a:srgbClr val="5F864B"/>
      </a:hlink>
      <a:folHlink>
        <a:srgbClr val="3F877D"/>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melightVTI" id="{7936DCFD-B587-41FD-9126-64F2709ED40B}" vid="{74F41540-78F1-4C56-9EAA-6FA6E9F1D776}"/>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440</Words>
  <Application>Microsoft Office PowerPoint</Application>
  <PresentationFormat>Widescreen</PresentationFormat>
  <Paragraphs>35</Paragraphs>
  <Slides>9</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9</vt:i4>
      </vt:variant>
    </vt:vector>
  </HeadingPairs>
  <TitlesOfParts>
    <vt:vector size="14" baseType="lpstr">
      <vt:lpstr>Aptos</vt:lpstr>
      <vt:lpstr>Arial</vt:lpstr>
      <vt:lpstr>Trade Gothic Next Cond</vt:lpstr>
      <vt:lpstr>Trade Gothic Next Light</vt:lpstr>
      <vt:lpstr>LimelightVTI</vt:lpstr>
      <vt:lpstr>Online research and interaction</vt:lpstr>
      <vt:lpstr>About Search and interaction</vt:lpstr>
      <vt:lpstr>Search engines</vt:lpstr>
      <vt:lpstr>DuckDuckgo</vt:lpstr>
      <vt:lpstr>Chat Room</vt:lpstr>
      <vt:lpstr>Discord</vt:lpstr>
      <vt:lpstr>Video conferencing</vt:lpstr>
      <vt:lpstr>Microsoft teams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Gustavo Sousa</dc:creator>
  <cp:lastModifiedBy>Gustavo Sousa</cp:lastModifiedBy>
  <cp:revision>2</cp:revision>
  <dcterms:created xsi:type="dcterms:W3CDTF">2024-12-09T14:10:52Z</dcterms:created>
  <dcterms:modified xsi:type="dcterms:W3CDTF">2024-12-09T16:23:57Z</dcterms:modified>
</cp:coreProperties>
</file>