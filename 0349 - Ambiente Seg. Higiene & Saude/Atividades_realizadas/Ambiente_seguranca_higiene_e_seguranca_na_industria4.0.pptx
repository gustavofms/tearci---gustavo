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DCA62-6629-4FF8-977D-9CEA5539F134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B7E42-E1EE-42AF-8C89-A47240E004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49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B7E42-E1EE-42AF-8C89-A47240E004C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233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F59A5-5411-32B3-A936-65F2FB53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D8BD07-86B0-87CB-BFB4-09A954FA2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573781-A3B9-BDB8-4555-7F4780F9D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A8DBC7-4CCD-3113-B4CE-2CCB3D4D0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B7E42-E1EE-42AF-8C89-A47240E004C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672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B7E42-E1EE-42AF-8C89-A47240E004C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96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B045-689C-A634-B750-EC51BC9B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18AB4B-52E6-663D-6197-08AC68878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F3051C-DEEC-8199-8B0F-E9B16E11F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1B2A01-CF02-20D6-D0CB-8A407D66E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B7E42-E1EE-42AF-8C89-A47240E004C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03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33D33-6EF1-20A5-3B28-114FA7177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C2E525-4E70-6512-258C-E57C91F51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F41611-2FF5-6E76-25CB-8A11DACC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741BCD-F573-CC76-B6E8-61D9787D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059E93-96E5-82EE-5CD9-B5E334F9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69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14924-AAB4-05A9-DB9C-538E8968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640C5-31F2-2700-AC33-890615B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7B75E1-8AB6-D206-AC03-FC47B5A0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2BCF96-BBB8-8372-5A5E-EA7E5B1E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6D8869-CE80-4281-D16F-B3C5C73D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82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4A90E-1F36-441B-1BA2-E982F8EB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12A8A4-16C3-0197-D380-3004C90A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1E6FE1-F0A0-F254-FB26-99EE0741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FE868C-17D2-A46D-B0F0-756B6CA8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75725C-1B9E-057A-13D6-71201443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8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C54F7-A29E-41A2-0E21-36109A09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E1CC6-E5D4-5F5D-B129-3D8411619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F5EA0A-F878-3747-E18E-CE196905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975618-9A4C-31B3-928E-56D3384C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B5D099-C149-BEDE-E5BD-BA9833FE1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206585-6B59-4918-25A7-642B0F0B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92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79B96-80E2-78FE-1FCB-15E4E3F4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D63F3A-A7DE-6696-6BDE-7A9740951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6A51FD-0CE3-94AD-C755-379F95388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6F9C19D-C27F-0F5D-E313-9FEBB2CA7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6F0312-A7D9-F160-1C42-89AF4A6F0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577C562-21E0-7543-66EB-87E6AB9F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D3FD79-BEB0-1C21-CCF0-21D7BC11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6FBD57-329B-64AD-6F94-9C81A712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71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634D1-E439-C6CB-64E8-9CCB1FF11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A0AFF3-E64F-720D-723B-0089E1EF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E19601-4199-ACE1-BFF3-4EE8975A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E24698-C660-0B5B-373D-BF73929C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77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858226-723B-76B3-B09F-5E858752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1111E5-B058-CA09-DC70-840F0E4D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7BEC7B-DF37-DA6C-3F9F-B0348AAE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86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0C007-8ED5-C9DA-6AA7-7E1EFC7A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997E1-697F-C68E-7B6F-C660E144D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E79D02-1974-2A23-DF9D-1DDB65DEB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E09917-1991-ACFA-0BF2-1752E1F0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674E45-E30E-6DEA-4E69-2B9B15F8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3F1DEA-6497-D189-4EAB-52AFEA45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26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97C75-7550-606B-B275-1033E879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EF6EE5-E5DD-E2E2-B05D-989B521B6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60E061-A5CB-2041-6E42-88612F937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EF3B8A-00A4-94EE-1FA4-2369E084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5AF8E0-FE34-5796-4E9F-4E7A0783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BB4177-A8B3-2A59-994C-1024042B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71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9C452-FACF-E96C-7584-CD8CE198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CB9B1D-865E-47CA-13B1-2821B986C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862EC9-2179-2F16-2061-7085A97E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262D6F-CEDE-1036-D204-F4450E5E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D9F84-0830-11C6-2B46-2EE9AA3A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68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A73014-1556-9699-05E0-A6A54A704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C4854C-2C47-5210-5EC8-815B9CB44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B88749-0F81-46B8-97C8-9BAA65CF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19DF07-F356-D6DF-FB7B-7DA4F6ACE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507107-0958-5F62-5B0D-D99AE179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07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5EA2C82-B5DE-FF29-A67B-14C018A0D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4A8CD9-5702-9658-4023-0F6587229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CD61DF-2E75-F1E1-E626-735B674CB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56F1F-9E5D-4081-AC8E-ABBE3B228A4F}" type="datetimeFigureOut">
              <a:rPr lang="pt-BR" smtClean="0"/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DC51FC-6A5F-95A3-0A65-DE8B6B106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87490-B490-F9B1-CDDC-C7C5F3B24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81354-23FF-43BE-AB68-34F5A6698C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24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vinciformazione.com/industria-4-0-limportanza-della-formazione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mawell.edu.pe/que-es-industria-4-0-empresa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mawell.edu.pe/que-es-industria-4-0-empresa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souforextrader.com/2018/07/sempre-defina-o-risco-antes-de-entrar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souforextrader.com/2018/07/sempre-defina-o-risco-antes-de-entrar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elyssamodesto/seguran%C3%A7a-do-trabalho-5f7300145338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melyssamodesto/seguran%C3%A7a-do-trabalho-5f7300145338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melyssamodesto/seguran%C3%A7a-do-trabalho-5f73001453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2794000" ty="-165100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21FD59-F714-4A18-DB30-390C5F5A6B40}"/>
              </a:ext>
            </a:extLst>
          </p:cNvPr>
          <p:cNvSpPr/>
          <p:nvPr/>
        </p:nvSpPr>
        <p:spPr>
          <a:xfrm>
            <a:off x="8023122" y="1866900"/>
            <a:ext cx="825910" cy="312419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C0076A7-A6B6-2C89-B30C-C11867963DDE}"/>
              </a:ext>
            </a:extLst>
          </p:cNvPr>
          <p:cNvSpPr/>
          <p:nvPr/>
        </p:nvSpPr>
        <p:spPr>
          <a:xfrm>
            <a:off x="8917858" y="1606345"/>
            <a:ext cx="825910" cy="364530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1A3BDB8-0A1F-41C5-5999-BEA93BFF549E}"/>
              </a:ext>
            </a:extLst>
          </p:cNvPr>
          <p:cNvSpPr/>
          <p:nvPr/>
        </p:nvSpPr>
        <p:spPr>
          <a:xfrm>
            <a:off x="9812594" y="1247467"/>
            <a:ext cx="825910" cy="4363064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CDAB972-7E34-A614-81C2-9A3874368CA4}"/>
              </a:ext>
            </a:extLst>
          </p:cNvPr>
          <p:cNvSpPr/>
          <p:nvPr/>
        </p:nvSpPr>
        <p:spPr>
          <a:xfrm>
            <a:off x="10707330" y="1036074"/>
            <a:ext cx="825910" cy="478585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64A6065-0F8C-B72E-E66C-4149EB7BDCFA}"/>
              </a:ext>
            </a:extLst>
          </p:cNvPr>
          <p:cNvSpPr/>
          <p:nvPr/>
        </p:nvSpPr>
        <p:spPr>
          <a:xfrm>
            <a:off x="7128386" y="926690"/>
            <a:ext cx="825910" cy="500461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DF95474-3963-09E1-B08B-D6F075112CEE}"/>
              </a:ext>
            </a:extLst>
          </p:cNvPr>
          <p:cNvSpPr txBox="1"/>
          <p:nvPr/>
        </p:nvSpPr>
        <p:spPr>
          <a:xfrm>
            <a:off x="1150884" y="926690"/>
            <a:ext cx="250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 4.0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609F25-080F-F2F1-63BF-AD80813A8A13}"/>
              </a:ext>
            </a:extLst>
          </p:cNvPr>
          <p:cNvSpPr txBox="1"/>
          <p:nvPr/>
        </p:nvSpPr>
        <p:spPr>
          <a:xfrm>
            <a:off x="1150884" y="1866900"/>
            <a:ext cx="530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 como objetivo tornar a indústria mais conectada, inteligente e eficiente, onde tecnologia e inovação estão no centro de tudo.</a:t>
            </a:r>
            <a:endParaRPr lang="pt-B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5DA89AF-07D7-E37C-1219-054AE468628B}"/>
              </a:ext>
            </a:extLst>
          </p:cNvPr>
          <p:cNvSpPr txBox="1"/>
          <p:nvPr/>
        </p:nvSpPr>
        <p:spPr>
          <a:xfrm>
            <a:off x="1553496" y="2934120"/>
            <a:ext cx="490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Uma ideologia capaz de transformar a forma como as empresas produzem, operam e entregam os seus produtos</a:t>
            </a:r>
            <a:endParaRPr lang="pt-B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A1C8358-A3D0-68F5-5611-E5054F303544}"/>
              </a:ext>
            </a:extLst>
          </p:cNvPr>
          <p:cNvSpPr txBox="1"/>
          <p:nvPr/>
        </p:nvSpPr>
        <p:spPr>
          <a:xfrm>
            <a:off x="2448232" y="4018609"/>
            <a:ext cx="4011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 uma nova forma de pensar a produção, que coloca a tecnologia ao serviço da criatividade e da eficiência.</a:t>
            </a:r>
            <a:endParaRPr lang="pt-B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99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2794000" ty="-165100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77837-B9B1-2BE4-6AE8-5B609558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2BF4C55-2346-CF71-2AFB-6CFDED76A6A2}"/>
              </a:ext>
            </a:extLst>
          </p:cNvPr>
          <p:cNvSpPr/>
          <p:nvPr/>
        </p:nvSpPr>
        <p:spPr>
          <a:xfrm>
            <a:off x="8023122" y="1866900"/>
            <a:ext cx="825910" cy="312419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8DBC125-A8A6-8B4E-29CF-638455F13BAD}"/>
              </a:ext>
            </a:extLst>
          </p:cNvPr>
          <p:cNvSpPr/>
          <p:nvPr/>
        </p:nvSpPr>
        <p:spPr>
          <a:xfrm>
            <a:off x="8917858" y="1606345"/>
            <a:ext cx="825910" cy="364530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6CEBECA-04B1-434A-8256-82A6C051A71B}"/>
              </a:ext>
            </a:extLst>
          </p:cNvPr>
          <p:cNvSpPr/>
          <p:nvPr/>
        </p:nvSpPr>
        <p:spPr>
          <a:xfrm>
            <a:off x="9812594" y="1247467"/>
            <a:ext cx="825910" cy="4363064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51B7AFE-7B8E-F0AF-42B0-D36D27CA1ECE}"/>
              </a:ext>
            </a:extLst>
          </p:cNvPr>
          <p:cNvSpPr/>
          <p:nvPr/>
        </p:nvSpPr>
        <p:spPr>
          <a:xfrm>
            <a:off x="10707330" y="1036074"/>
            <a:ext cx="825910" cy="478585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9C84764-BB4C-EC7E-CA83-C964154E1399}"/>
              </a:ext>
            </a:extLst>
          </p:cNvPr>
          <p:cNvSpPr/>
          <p:nvPr/>
        </p:nvSpPr>
        <p:spPr>
          <a:xfrm>
            <a:off x="7128386" y="926690"/>
            <a:ext cx="825910" cy="500461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D771A84-BE5E-0A2B-D35D-D9F446DF92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100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DF4FDAC-5113-F677-1776-E4500B9611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622" y="3594167"/>
            <a:ext cx="4037382" cy="28377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AABDF3B-BEFA-0534-EC56-40491D1CD1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622" y="632951"/>
            <a:ext cx="4015646" cy="28377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15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67327E1-AE8D-C5B8-C53D-B70FF0ECC755}"/>
              </a:ext>
            </a:extLst>
          </p:cNvPr>
          <p:cNvSpPr/>
          <p:nvPr/>
        </p:nvSpPr>
        <p:spPr>
          <a:xfrm>
            <a:off x="8023122" y="2054327"/>
            <a:ext cx="825910" cy="2711245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CA82343-15F9-A5FE-0BAE-5C3209E1649F}"/>
              </a:ext>
            </a:extLst>
          </p:cNvPr>
          <p:cNvSpPr/>
          <p:nvPr/>
        </p:nvSpPr>
        <p:spPr>
          <a:xfrm>
            <a:off x="8917858" y="1479754"/>
            <a:ext cx="825910" cy="386039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F61DB92-080D-FC10-1730-B180BD5BEC04}"/>
              </a:ext>
            </a:extLst>
          </p:cNvPr>
          <p:cNvSpPr/>
          <p:nvPr/>
        </p:nvSpPr>
        <p:spPr>
          <a:xfrm>
            <a:off x="9812594" y="1047135"/>
            <a:ext cx="894736" cy="472562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D6DD4C4-0C55-AE4F-BAE8-DF50A6E6249A}"/>
              </a:ext>
            </a:extLst>
          </p:cNvPr>
          <p:cNvSpPr/>
          <p:nvPr/>
        </p:nvSpPr>
        <p:spPr>
          <a:xfrm>
            <a:off x="10795818" y="888591"/>
            <a:ext cx="894736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B19C948-96B6-6246-0FBF-E835BDDB2030}"/>
              </a:ext>
            </a:extLst>
          </p:cNvPr>
          <p:cNvSpPr/>
          <p:nvPr/>
        </p:nvSpPr>
        <p:spPr>
          <a:xfrm>
            <a:off x="7128386" y="1833101"/>
            <a:ext cx="825910" cy="315369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69E29FB-4898-D423-F5D1-88060544BE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tx1">
                  <a:alpha val="91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BE9F93F-8922-09B5-73B6-C1096D0F18B4}"/>
              </a:ext>
            </a:extLst>
          </p:cNvPr>
          <p:cNvSpPr txBox="1"/>
          <p:nvPr/>
        </p:nvSpPr>
        <p:spPr>
          <a:xfrm>
            <a:off x="1150628" y="916086"/>
            <a:ext cx="4679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 DA INDUSTRIA 4.0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C1EC72-BE52-C397-12CF-630C82BF92FE}"/>
              </a:ext>
            </a:extLst>
          </p:cNvPr>
          <p:cNvSpPr txBox="1"/>
          <p:nvPr/>
        </p:nvSpPr>
        <p:spPr>
          <a:xfrm>
            <a:off x="1150628" y="1749370"/>
            <a:ext cx="4827130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objetivos principais são:</a:t>
            </a:r>
            <a:endParaRPr lang="pt-BR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Conectividade total</a:t>
            </a:r>
            <a:endParaRPr lang="pt-BR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Automação avançada</a:t>
            </a:r>
            <a:endParaRPr lang="pt-BR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Uso inteligente dos dados</a:t>
            </a:r>
            <a:endParaRPr lang="pt-BR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Produção personalizada</a:t>
            </a:r>
            <a:endParaRPr lang="pt-BR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Fábricas inteligentes</a:t>
            </a:r>
            <a:endParaRPr lang="pt-BR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Sustentabilidadet</a:t>
            </a:r>
            <a:endParaRPr lang="pt-BR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81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1511300" ty="0" sx="50000" sy="5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55767-6059-22AC-9C98-2AD20AEA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4726D92-39D1-BF83-B70E-CDA90F74E40D}"/>
              </a:ext>
            </a:extLst>
          </p:cNvPr>
          <p:cNvSpPr/>
          <p:nvPr/>
        </p:nvSpPr>
        <p:spPr>
          <a:xfrm>
            <a:off x="8023122" y="1559027"/>
            <a:ext cx="806248" cy="3860389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080A7FD-F29C-E717-07F3-567255BFAF1D}"/>
              </a:ext>
            </a:extLst>
          </p:cNvPr>
          <p:cNvSpPr/>
          <p:nvPr/>
        </p:nvSpPr>
        <p:spPr>
          <a:xfrm>
            <a:off x="8917858" y="1738158"/>
            <a:ext cx="806248" cy="350212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8B62D11-7F64-ECCE-1572-03D40FBEB9D4}"/>
              </a:ext>
            </a:extLst>
          </p:cNvPr>
          <p:cNvSpPr/>
          <p:nvPr/>
        </p:nvSpPr>
        <p:spPr>
          <a:xfrm>
            <a:off x="9812594" y="1792543"/>
            <a:ext cx="806248" cy="339335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B57F500-5507-CFFC-9ACC-D820D4E9159B}"/>
              </a:ext>
            </a:extLst>
          </p:cNvPr>
          <p:cNvSpPr/>
          <p:nvPr/>
        </p:nvSpPr>
        <p:spPr>
          <a:xfrm>
            <a:off x="10795818" y="2047567"/>
            <a:ext cx="806248" cy="288330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9F39297-F8AA-BC5B-4F2A-C21705B2E8EF}"/>
              </a:ext>
            </a:extLst>
          </p:cNvPr>
          <p:cNvSpPr/>
          <p:nvPr/>
        </p:nvSpPr>
        <p:spPr>
          <a:xfrm>
            <a:off x="7128385" y="1166350"/>
            <a:ext cx="825909" cy="4645742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9A329A-2DEE-5B1C-B816-82B92D15DB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4000">
                <a:schemeClr val="tx1">
                  <a:alpha val="91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C59C4E6-0A6D-B166-2363-4BF01EFAEBAE}"/>
              </a:ext>
            </a:extLst>
          </p:cNvPr>
          <p:cNvSpPr txBox="1"/>
          <p:nvPr/>
        </p:nvSpPr>
        <p:spPr>
          <a:xfrm>
            <a:off x="1032640" y="816302"/>
            <a:ext cx="4679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VANTAGENS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B42EC9-2CA2-A4EE-30B1-1B6DBDC591CD}"/>
              </a:ext>
            </a:extLst>
          </p:cNvPr>
          <p:cNvSpPr txBox="1"/>
          <p:nvPr/>
        </p:nvSpPr>
        <p:spPr>
          <a:xfrm>
            <a:off x="1032640" y="1556696"/>
            <a:ext cx="5869603" cy="425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produtividade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Funcionam de forma contínua e realizam tarefas repetitivas de forma mais rápida e eficiente.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da qualidade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Garantem consistência e precisão e reduzem erros humanos.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custos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Menor desperdício de materiais e menos erros na produção.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Diminuição de custos operacionais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Mais segurança no trabalho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Substituem trabalhadores em ambientes perigosos ou insalubres.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Reduzem o risco de acidentes, garantindo maior protecção para os colaboradores.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53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1511300" ty="0" sx="50000" sy="5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9AB2D-9F9D-8394-8BFA-F9AC8EC7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F01A03F-63BF-8E6C-B276-B02478675335}"/>
              </a:ext>
            </a:extLst>
          </p:cNvPr>
          <p:cNvSpPr/>
          <p:nvPr/>
        </p:nvSpPr>
        <p:spPr>
          <a:xfrm>
            <a:off x="8023122" y="1069064"/>
            <a:ext cx="806248" cy="4107814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15FFFF2-6440-4699-792C-11DC66ED00B5}"/>
              </a:ext>
            </a:extLst>
          </p:cNvPr>
          <p:cNvSpPr/>
          <p:nvPr/>
        </p:nvSpPr>
        <p:spPr>
          <a:xfrm>
            <a:off x="8917857" y="1750142"/>
            <a:ext cx="806247" cy="264672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E5DC4B5-78DA-2B3C-0EBB-C32ED9073FA8}"/>
              </a:ext>
            </a:extLst>
          </p:cNvPr>
          <p:cNvSpPr/>
          <p:nvPr/>
        </p:nvSpPr>
        <p:spPr>
          <a:xfrm>
            <a:off x="9812594" y="1352551"/>
            <a:ext cx="894736" cy="354084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C431635-C176-0591-060A-3874A5F6FB72}"/>
              </a:ext>
            </a:extLst>
          </p:cNvPr>
          <p:cNvSpPr/>
          <p:nvPr/>
        </p:nvSpPr>
        <p:spPr>
          <a:xfrm>
            <a:off x="10795818" y="314633"/>
            <a:ext cx="894736" cy="5616676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1ACF398-344C-67A3-491D-5F15C3ABE658}"/>
              </a:ext>
            </a:extLst>
          </p:cNvPr>
          <p:cNvSpPr/>
          <p:nvPr/>
        </p:nvSpPr>
        <p:spPr>
          <a:xfrm>
            <a:off x="7128386" y="993366"/>
            <a:ext cx="806248" cy="4259211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B8B12E-1515-E2E3-CC5B-EB8AE45175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91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856B4A-B694-1309-5043-547CF42D65B1}"/>
              </a:ext>
            </a:extLst>
          </p:cNvPr>
          <p:cNvSpPr txBox="1"/>
          <p:nvPr/>
        </p:nvSpPr>
        <p:spPr>
          <a:xfrm>
            <a:off x="1160713" y="657758"/>
            <a:ext cx="4679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+VANTAGENS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3E88EC-308D-FB3E-CA17-85861743C7DA}"/>
              </a:ext>
            </a:extLst>
          </p:cNvPr>
          <p:cNvSpPr txBox="1"/>
          <p:nvPr/>
        </p:nvSpPr>
        <p:spPr>
          <a:xfrm>
            <a:off x="1160713" y="1335625"/>
            <a:ext cx="4827130" cy="500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Flexibilidade e adaptabilidade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Podem ser programadas para realizar diferentes tarefas, adaptando-se facilmente a novas exigências.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Facilitam alterações nos processos de produção sem grandes custos adicionais.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competitividade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Permitem responder rapidamente a grandes volumes de encomendas.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Melhoram a imagem da empresa, associando-a à inovação e tecnologia avançada.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Monitorização e optimização dos processos</a:t>
            </a:r>
            <a:endParaRPr lang="pt-BR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Recolhem dados em tempo real, ajudando a melhorar a eficiência e a detectar problemas.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PT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Integram-se facilmente com sistemas digitais, alinhando-se com a Indústria 4.0.</a:t>
            </a:r>
            <a:endParaRPr lang="pt-BR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81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254000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0FF3A-CE82-271B-F1A2-50AB722A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2CA8486-68BC-0288-AAB7-704DA0E65004}"/>
              </a:ext>
            </a:extLst>
          </p:cNvPr>
          <p:cNvSpPr/>
          <p:nvPr/>
        </p:nvSpPr>
        <p:spPr>
          <a:xfrm>
            <a:off x="8023122" y="2054327"/>
            <a:ext cx="825910" cy="2711245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E8998BE-7874-E0B3-6317-C3BBFC4E1757}"/>
              </a:ext>
            </a:extLst>
          </p:cNvPr>
          <p:cNvSpPr/>
          <p:nvPr/>
        </p:nvSpPr>
        <p:spPr>
          <a:xfrm>
            <a:off x="8917858" y="1479754"/>
            <a:ext cx="825910" cy="386039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F1FA405-5391-E453-4039-2D2E309FC5FB}"/>
              </a:ext>
            </a:extLst>
          </p:cNvPr>
          <p:cNvSpPr/>
          <p:nvPr/>
        </p:nvSpPr>
        <p:spPr>
          <a:xfrm>
            <a:off x="9812594" y="1047135"/>
            <a:ext cx="894736" cy="472562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CEC8B4-C6C5-E334-B0A1-FF9F861F1D56}"/>
              </a:ext>
            </a:extLst>
          </p:cNvPr>
          <p:cNvSpPr/>
          <p:nvPr/>
        </p:nvSpPr>
        <p:spPr>
          <a:xfrm>
            <a:off x="10795818" y="888591"/>
            <a:ext cx="894736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43FD6AD-79B5-E784-D3F7-B337AE171078}"/>
              </a:ext>
            </a:extLst>
          </p:cNvPr>
          <p:cNvSpPr/>
          <p:nvPr/>
        </p:nvSpPr>
        <p:spPr>
          <a:xfrm>
            <a:off x="7128386" y="1833101"/>
            <a:ext cx="825910" cy="315369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1A5F668-A8DC-02B1-392A-69CD4F8FFE69}"/>
              </a:ext>
            </a:extLst>
          </p:cNvPr>
          <p:cNvSpPr txBox="1"/>
          <p:nvPr/>
        </p:nvSpPr>
        <p:spPr>
          <a:xfrm>
            <a:off x="954237" y="657758"/>
            <a:ext cx="330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POSSÍVEIS RISCOS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013BCC-6397-9668-44D8-74316545C982}"/>
              </a:ext>
            </a:extLst>
          </p:cNvPr>
          <p:cNvSpPr txBox="1"/>
          <p:nvPr/>
        </p:nvSpPr>
        <p:spPr>
          <a:xfrm>
            <a:off x="954236" y="1417602"/>
            <a:ext cx="4827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Apesar das máquinas robóticas e automatizadas trazerem muitos benefícios, também podem apresentar riscos que é importante reconhecer e prevenir.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935E75C-0C00-FAA2-918E-71C04B93BBAC}"/>
              </a:ext>
            </a:extLst>
          </p:cNvPr>
          <p:cNvSpPr txBox="1"/>
          <p:nvPr/>
        </p:nvSpPr>
        <p:spPr>
          <a:xfrm>
            <a:off x="954236" y="2629045"/>
            <a:ext cx="4915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pt-BR" sz="2000" dirty="0">
                <a:solidFill>
                  <a:schemeClr val="tx1"/>
                </a:solidFill>
              </a:rPr>
              <a:t>PRINCIPAIS RISCOS DAS MÁQUINAS ROBÓTICAS E AUTOMATIZADAS: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A554CE-17AB-4333-8361-359B7036F755}"/>
              </a:ext>
            </a:extLst>
          </p:cNvPr>
          <p:cNvSpPr txBox="1"/>
          <p:nvPr/>
        </p:nvSpPr>
        <p:spPr>
          <a:xfrm>
            <a:off x="954236" y="3666201"/>
            <a:ext cx="48271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Acidentes com pessoas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robôs podem mover-se de forma rápida e inesperada, o que pode causar acidentes, como colisões.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pt-BR" sz="16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as áreas de trabalho não estiverem bem protegidas, alguém pode entrar sem querer numa zona perigosa.</a:t>
            </a:r>
          </a:p>
        </p:txBody>
      </p:sp>
    </p:spTree>
    <p:extLst>
      <p:ext uri="{BB962C8B-B14F-4D97-AF65-F5344CB8AC3E}">
        <p14:creationId xmlns:p14="http://schemas.microsoft.com/office/powerpoint/2010/main" val="84917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254000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BED87-2A48-9C13-EED2-DD0BEF2E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AD97D-65B2-9006-617D-3CC61B137F1D}"/>
              </a:ext>
            </a:extLst>
          </p:cNvPr>
          <p:cNvSpPr/>
          <p:nvPr/>
        </p:nvSpPr>
        <p:spPr>
          <a:xfrm>
            <a:off x="8023122" y="2054327"/>
            <a:ext cx="825910" cy="2711245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C0FD8B8-7B5E-631D-F2B9-68FD45DFE6D7}"/>
              </a:ext>
            </a:extLst>
          </p:cNvPr>
          <p:cNvSpPr/>
          <p:nvPr/>
        </p:nvSpPr>
        <p:spPr>
          <a:xfrm>
            <a:off x="8917858" y="1479754"/>
            <a:ext cx="825910" cy="386039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1F0A3E8-BE7F-8B01-121F-78E7427B3D58}"/>
              </a:ext>
            </a:extLst>
          </p:cNvPr>
          <p:cNvSpPr/>
          <p:nvPr/>
        </p:nvSpPr>
        <p:spPr>
          <a:xfrm>
            <a:off x="9812594" y="1047135"/>
            <a:ext cx="894736" cy="472562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B39AF0F-B49E-830D-7CC0-ED89B9C04FA0}"/>
              </a:ext>
            </a:extLst>
          </p:cNvPr>
          <p:cNvSpPr/>
          <p:nvPr/>
        </p:nvSpPr>
        <p:spPr>
          <a:xfrm>
            <a:off x="10795818" y="888591"/>
            <a:ext cx="894736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81E682E-64E7-0002-795A-3663D472F142}"/>
              </a:ext>
            </a:extLst>
          </p:cNvPr>
          <p:cNvSpPr/>
          <p:nvPr/>
        </p:nvSpPr>
        <p:spPr>
          <a:xfrm>
            <a:off x="7128386" y="1833101"/>
            <a:ext cx="825910" cy="315369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0ACD05-9CE9-C526-56DD-C5E7BAFBC29B}"/>
              </a:ext>
            </a:extLst>
          </p:cNvPr>
          <p:cNvSpPr txBox="1"/>
          <p:nvPr/>
        </p:nvSpPr>
        <p:spPr>
          <a:xfrm>
            <a:off x="757845" y="888591"/>
            <a:ext cx="482713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Falhas técnicas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Problemas de software ou hardware podem fazer com que as máquinas não funcionem corretamente ou até parem a produção.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pt-BR" sz="16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Quando a manutenção não é feita regularmente, aumenta o risco de avarias que podem ser perigosas.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pt-BR" sz="16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Ataques informáticos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 muitas destas máquinas estão ligadas à internet, podem ser alvo de hackers, o que pode comprometer a segurança e o funcionamento das operações.</a:t>
            </a:r>
          </a:p>
          <a:p>
            <a:pPr lvl="1" algn="just">
              <a:buSzPts val="1000"/>
              <a:tabLst>
                <a:tab pos="457200" algn="l"/>
              </a:tabLst>
            </a:pPr>
            <a:endParaRPr lang="pt-BR" sz="16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Falta de formação</a:t>
            </a:r>
          </a:p>
          <a:p>
            <a:pPr marL="74295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as pessoas não souberem usar ou interagir corretamente com as máquinas, podem cometer erros que resultam em acidentes.</a:t>
            </a:r>
          </a:p>
          <a:p>
            <a:pPr lvl="1" algn="just">
              <a:buSzPts val="1000"/>
              <a:tabLst>
                <a:tab pos="457200" algn="l"/>
              </a:tabLst>
            </a:pPr>
            <a:endParaRPr lang="pt-BR" sz="16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98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5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874F6-8CE6-1D75-2BD3-7DE77712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3A9348-9200-F785-F3DD-5D9D05378760}"/>
              </a:ext>
            </a:extLst>
          </p:cNvPr>
          <p:cNvSpPr txBox="1"/>
          <p:nvPr/>
        </p:nvSpPr>
        <p:spPr>
          <a:xfrm>
            <a:off x="757845" y="682114"/>
            <a:ext cx="482713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Condições ambientais difíceis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Máquinas que trabalham em ambientes com altas temperaturas, humidade ou materiais corrosivos podem avariar mais facilmente.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pt-BR" sz="1600" b="1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Desgaste com o tempo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uso contínuo pode levar ao desgaste de peças importantes, o que aumenta os riscos de falhas ou acidentes.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pt-BR" sz="1600" b="1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Excesso de confiança na automação</a:t>
            </a:r>
          </a:p>
          <a:p>
            <a:pPr marL="742950" lvl="1" indent="-285750" algn="just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Depender totalmente das máquinas, sem supervisão humana, pode fazer com que pequenos erros passem despercebidos até se tornarem grandes problemas.</a:t>
            </a:r>
          </a:p>
          <a:p>
            <a:pPr lvl="1" algn="just">
              <a:buSzPts val="1000"/>
              <a:tabLst>
                <a:tab pos="457200" algn="l"/>
              </a:tabLst>
            </a:pPr>
            <a:endParaRPr lang="pt-BR" sz="16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68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52000" t="6000" r="-3000" b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76181-9AED-B329-2D09-5935B769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669A683-96AE-B635-57BB-8131A403010F}"/>
              </a:ext>
            </a:extLst>
          </p:cNvPr>
          <p:cNvSpPr/>
          <p:nvPr/>
        </p:nvSpPr>
        <p:spPr>
          <a:xfrm>
            <a:off x="8023122" y="1189703"/>
            <a:ext cx="806248" cy="458306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631B96E-159E-41FE-A1D2-C2C7CC60E445}"/>
              </a:ext>
            </a:extLst>
          </p:cNvPr>
          <p:cNvSpPr/>
          <p:nvPr/>
        </p:nvSpPr>
        <p:spPr>
          <a:xfrm>
            <a:off x="8917858" y="1479754"/>
            <a:ext cx="825910" cy="386039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915EAC1-818B-D951-885C-AD51FAAA6DC3}"/>
              </a:ext>
            </a:extLst>
          </p:cNvPr>
          <p:cNvSpPr/>
          <p:nvPr/>
        </p:nvSpPr>
        <p:spPr>
          <a:xfrm>
            <a:off x="9812594" y="1047135"/>
            <a:ext cx="894736" cy="472562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5DF710C-38ED-94DE-C200-01885A1D39B2}"/>
              </a:ext>
            </a:extLst>
          </p:cNvPr>
          <p:cNvSpPr/>
          <p:nvPr/>
        </p:nvSpPr>
        <p:spPr>
          <a:xfrm>
            <a:off x="10795818" y="888591"/>
            <a:ext cx="894736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D80D56A-1996-9DC6-D114-12256775BE50}"/>
              </a:ext>
            </a:extLst>
          </p:cNvPr>
          <p:cNvSpPr/>
          <p:nvPr/>
        </p:nvSpPr>
        <p:spPr>
          <a:xfrm>
            <a:off x="7128386" y="888591"/>
            <a:ext cx="825910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AFB198-254B-858D-C1E4-53E7AF8AC9C9}"/>
              </a:ext>
            </a:extLst>
          </p:cNvPr>
          <p:cNvSpPr txBox="1"/>
          <p:nvPr/>
        </p:nvSpPr>
        <p:spPr>
          <a:xfrm>
            <a:off x="954236" y="657758"/>
            <a:ext cx="5869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NO MANUSEAMENTO COM AS MÁQUINAS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EC1AEA-C6A5-A262-1ECC-A3E6D789F9C0}"/>
              </a:ext>
            </a:extLst>
          </p:cNvPr>
          <p:cNvSpPr txBox="1"/>
          <p:nvPr/>
        </p:nvSpPr>
        <p:spPr>
          <a:xfrm>
            <a:off x="954236" y="1638828"/>
            <a:ext cx="4827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pt-BR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segurança nas máquinas robóticas e automatizadas é essencial para proteger os trabalhadores e garantir que os processos sejam eficientes e confiáveis. Quando as medidas certas estão implementadas, cria-se um ambiente de trabalho seguro, produtivo e em conformidade com as regras da empresa.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026539-ADF5-EC2B-7A14-07D33CF67005}"/>
              </a:ext>
            </a:extLst>
          </p:cNvPr>
          <p:cNvSpPr txBox="1"/>
          <p:nvPr/>
        </p:nvSpPr>
        <p:spPr>
          <a:xfrm>
            <a:off x="905076" y="3416710"/>
            <a:ext cx="5608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NORMAS: ISO e IEC</a:t>
            </a:r>
          </a:p>
        </p:txBody>
      </p:sp>
      <p:pic>
        <p:nvPicPr>
          <p:cNvPr id="12" name="Imagem 11" descr="Tabela&#10;&#10;Descrição gerada automaticamente">
            <a:extLst>
              <a:ext uri="{FF2B5EF4-FFF2-40B4-BE49-F238E27FC236}">
                <a16:creationId xmlns:a16="http://schemas.microsoft.com/office/drawing/2014/main" id="{E08C28AE-6D8D-51C3-571A-672F65C1C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40" y="4011520"/>
            <a:ext cx="5608221" cy="14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86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52000" t="6000" r="-3000" b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5F0BD-5666-2713-ECB7-F5162B4E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779C3A4C-1CA8-D0E6-18F7-2C95ED7EF794}"/>
              </a:ext>
            </a:extLst>
          </p:cNvPr>
          <p:cNvSpPr txBox="1"/>
          <p:nvPr/>
        </p:nvSpPr>
        <p:spPr>
          <a:xfrm>
            <a:off x="954235" y="584668"/>
            <a:ext cx="50729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ISO é uma organização internacional independente e não governamental que desenvolve e publica normas internacionais voluntárias. </a:t>
            </a:r>
          </a:p>
          <a:p>
            <a:pPr algn="just"/>
            <a:endParaRPr lang="pt-PT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pt-PT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que diz respeito à segurança dos robôs, a ISO tem várias normas que são amplamente reconhecidas e adotadas em todo o mundo.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39459B-B59A-BF0F-8C64-DAFEF9A97BE0}"/>
              </a:ext>
            </a:extLst>
          </p:cNvPr>
          <p:cNvSpPr txBox="1"/>
          <p:nvPr/>
        </p:nvSpPr>
        <p:spPr>
          <a:xfrm>
            <a:off x="964321" y="2539377"/>
            <a:ext cx="507293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PT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ISO 10218:</a:t>
            </a:r>
            <a:r>
              <a:rPr lang="pt-PT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Abrange aspetos como a conceção do robô, a integração do sistema e as medidas de salvaguarda para proteger os operadores.</a:t>
            </a:r>
          </a:p>
          <a:p>
            <a:pPr lvl="0" algn="just"/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PT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 ISO 18650: </a:t>
            </a:r>
            <a:r>
              <a:rPr lang="pt-PT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Abrange aspetos como a segurança elétrica, os riscos mecânicos e a proteção contra o sobreaquecimento para garantir a utilização segura destes aparelhos em diversos ambientes.</a:t>
            </a:r>
          </a:p>
          <a:p>
            <a:pPr lvl="0" algn="just"/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PT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 ISO 18489:</a:t>
            </a:r>
            <a:r>
              <a:rPr lang="pt-PT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Esta norma define os requisitos para a conceção, funcionamento e manutenção dos robôs, de modo a minimizar os riscos para os operadores.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FC742A6-9FA9-8F75-D9BE-5B3BBCACB93C}"/>
              </a:ext>
            </a:extLst>
          </p:cNvPr>
          <p:cNvSpPr/>
          <p:nvPr/>
        </p:nvSpPr>
        <p:spPr>
          <a:xfrm>
            <a:off x="8023122" y="1189703"/>
            <a:ext cx="806248" cy="458306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7881C2E-B646-D387-EED5-1B907336F410}"/>
              </a:ext>
            </a:extLst>
          </p:cNvPr>
          <p:cNvSpPr/>
          <p:nvPr/>
        </p:nvSpPr>
        <p:spPr>
          <a:xfrm>
            <a:off x="8917858" y="1479754"/>
            <a:ext cx="825910" cy="386039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9732D20-7462-C4B1-311A-8189ECB97648}"/>
              </a:ext>
            </a:extLst>
          </p:cNvPr>
          <p:cNvSpPr/>
          <p:nvPr/>
        </p:nvSpPr>
        <p:spPr>
          <a:xfrm>
            <a:off x="9812594" y="1047135"/>
            <a:ext cx="894736" cy="472562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47A2D52-1E10-7900-3004-FA9564A3DF3F}"/>
              </a:ext>
            </a:extLst>
          </p:cNvPr>
          <p:cNvSpPr/>
          <p:nvPr/>
        </p:nvSpPr>
        <p:spPr>
          <a:xfrm>
            <a:off x="10795818" y="888591"/>
            <a:ext cx="894736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E74189-40F7-0632-24EE-53B16F71738C}"/>
              </a:ext>
            </a:extLst>
          </p:cNvPr>
          <p:cNvSpPr/>
          <p:nvPr/>
        </p:nvSpPr>
        <p:spPr>
          <a:xfrm>
            <a:off x="7128386" y="888591"/>
            <a:ext cx="825910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3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52000" t="6000" r="-3000" b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118A2-8623-FCA9-D31F-CCE2B7D6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6BB59CEB-25A0-32A5-A100-E5534099C8C3}"/>
              </a:ext>
            </a:extLst>
          </p:cNvPr>
          <p:cNvSpPr txBox="1"/>
          <p:nvPr/>
        </p:nvSpPr>
        <p:spPr>
          <a:xfrm>
            <a:off x="954235" y="584668"/>
            <a:ext cx="5072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IEC é também uma organização internacional de normas que desenvolve e publica normas relacionadas com tecnologias elétricas e eletrônicas.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8898E3-2658-2835-B048-FF49B45606EB}"/>
              </a:ext>
            </a:extLst>
          </p:cNvPr>
          <p:cNvSpPr txBox="1"/>
          <p:nvPr/>
        </p:nvSpPr>
        <p:spPr>
          <a:xfrm>
            <a:off x="954235" y="1479754"/>
            <a:ext cx="507293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IEC 61508: 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é uma norma fundamental que se centra na segurança funcional de sistemas elétricos,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eletrónicos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eletrônicos programáveis, incluindo robôs.</a:t>
            </a:r>
          </a:p>
          <a:p>
            <a:pPr lvl="0" algn="just"/>
            <a:endParaRPr lang="pt-BR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IEC 62061: 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é outra norma fundamental centrada na segurança funcional de sistemas elétricos,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eletrónicos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eletrônicos programáveis, incluindo robôs utilizados em aplicações comerciais.</a:t>
            </a:r>
          </a:p>
          <a:p>
            <a:pPr lvl="0" algn="just"/>
            <a:endParaRPr lang="pt-BR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IEC 60335-2-72:  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aborda os requisitos de segurança para máquinas motorizadas de montar e de andar atrás. Relacionado a todos os tipos de robôs.</a:t>
            </a:r>
          </a:p>
          <a:p>
            <a:pPr lvl="0" algn="just"/>
            <a:endParaRPr lang="pt-BR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IEC 63327: 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diz respeito às diretrizes de segurança para máquinas automáticas de tratamento de pavimentos, normalmente conhecidas como máquinas de limpeza robotizadas, concebidas para utilização comercial em interiores.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FB6B1A1-B87A-CD5A-9D7E-F428285821FC}"/>
              </a:ext>
            </a:extLst>
          </p:cNvPr>
          <p:cNvSpPr/>
          <p:nvPr/>
        </p:nvSpPr>
        <p:spPr>
          <a:xfrm>
            <a:off x="8023122" y="1189703"/>
            <a:ext cx="806248" cy="458306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42A02B8-18BE-7495-0FE2-8224C93D7022}"/>
              </a:ext>
            </a:extLst>
          </p:cNvPr>
          <p:cNvSpPr/>
          <p:nvPr/>
        </p:nvSpPr>
        <p:spPr>
          <a:xfrm>
            <a:off x="8917858" y="1479754"/>
            <a:ext cx="825910" cy="3860390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CAD8162-4D99-39E8-8B96-6682327ADE83}"/>
              </a:ext>
            </a:extLst>
          </p:cNvPr>
          <p:cNvSpPr/>
          <p:nvPr/>
        </p:nvSpPr>
        <p:spPr>
          <a:xfrm>
            <a:off x="9812594" y="1047135"/>
            <a:ext cx="894736" cy="4725628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D445269-2824-F050-86DE-6061D80F1E64}"/>
              </a:ext>
            </a:extLst>
          </p:cNvPr>
          <p:cNvSpPr/>
          <p:nvPr/>
        </p:nvSpPr>
        <p:spPr>
          <a:xfrm>
            <a:off x="10795818" y="888591"/>
            <a:ext cx="894736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688C069-40B3-F914-E973-01321D19A26F}"/>
              </a:ext>
            </a:extLst>
          </p:cNvPr>
          <p:cNvSpPr/>
          <p:nvPr/>
        </p:nvSpPr>
        <p:spPr>
          <a:xfrm>
            <a:off x="7128386" y="888591"/>
            <a:ext cx="825910" cy="5042717"/>
          </a:xfrm>
          <a:prstGeom prst="roundRect">
            <a:avLst>
              <a:gd name="adj" fmla="val 50000"/>
            </a:avLst>
          </a:prstGeom>
          <a:effectLst>
            <a:outerShdw blurRad="2032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324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806</Words>
  <Application>Microsoft Office PowerPoint</Application>
  <PresentationFormat>Widescreen</PresentationFormat>
  <Paragraphs>81</Paragraphs>
  <Slides>11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Symbol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Sousa</dc:creator>
  <cp:lastModifiedBy>Gustavo Sousa</cp:lastModifiedBy>
  <cp:revision>3</cp:revision>
  <dcterms:created xsi:type="dcterms:W3CDTF">2024-12-11T09:20:09Z</dcterms:created>
  <dcterms:modified xsi:type="dcterms:W3CDTF">2024-12-11T12:06:33Z</dcterms:modified>
</cp:coreProperties>
</file>