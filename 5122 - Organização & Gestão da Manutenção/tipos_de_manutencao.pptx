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DM Sans Bold" panose="020B0604020202020204" charset="0"/>
      <p:regular r:id="rId29"/>
    </p:embeddedFont>
    <p:embeddedFont>
      <p:font typeface="Montserrat" panose="00000500000000000000" pitchFamily="2" charset="0"/>
      <p:regular r:id="rId30"/>
    </p:embeddedFont>
    <p:embeddedFont>
      <p:font typeface="Montserrat Bold" panose="00000800000000000000" charset="0"/>
      <p:regular r:id="rId31"/>
    </p:embeddedFont>
    <p:embeddedFont>
      <p:font typeface="Montserrat Medium" panose="00000600000000000000" pitchFamily="2" charset="0"/>
      <p:regular r:id="rId32"/>
    </p:embeddedFont>
    <p:embeddedFont>
      <p:font typeface="Montserrat Semi-Bold" panose="020B0604020202020204" charset="0"/>
      <p:regular r:id="rId33"/>
    </p:embeddedFont>
    <p:embeddedFont>
      <p:font typeface="Montserrat Ultra-Bold" panose="020B0604020202020204" charset="0"/>
      <p:regular r:id="rId34"/>
    </p:embeddedFont>
    <p:embeddedFont>
      <p:font typeface="Open Sans" panose="020B0606030504020204" pitchFamily="34" charset="0"/>
      <p:regular r:id="rId35"/>
    </p:embeddedFont>
    <p:embeddedFont>
      <p:font typeface="Open Sans Bold" panose="020B0806030504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ge.com/pt-pt/blog/tipos-de-manutencao-preventiva-correctiva-preditiva/" TargetMode="External"/><Relationship Id="rId2" Type="http://schemas.openxmlformats.org/officeDocument/2006/relationships/hyperlink" Target="https://blog.squair.io/pt/guia-completo-de-tipos-de-manuten%C3%A7%C3%A3o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roduttivo.com.br/blog/manutencao-planejad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49224" y="-4757497"/>
            <a:ext cx="5786197" cy="57861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14505" y="8663508"/>
            <a:ext cx="4148427" cy="414842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9831923" y="1028700"/>
            <a:ext cx="9307364" cy="9444742"/>
          </a:xfrm>
          <a:custGeom>
            <a:avLst/>
            <a:gdLst/>
            <a:ahLst/>
            <a:cxnLst/>
            <a:rect l="l" t="t" r="r" b="b"/>
            <a:pathLst>
              <a:path w="9307364" h="9444742">
                <a:moveTo>
                  <a:pt x="9307364" y="0"/>
                </a:moveTo>
                <a:lnTo>
                  <a:pt x="0" y="0"/>
                </a:lnTo>
                <a:lnTo>
                  <a:pt x="0" y="9444742"/>
                </a:lnTo>
                <a:lnTo>
                  <a:pt x="9307364" y="9444742"/>
                </a:lnTo>
                <a:lnTo>
                  <a:pt x="93073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2" name="Group 12"/>
          <p:cNvGrpSpPr/>
          <p:nvPr/>
        </p:nvGrpSpPr>
        <p:grpSpPr>
          <a:xfrm>
            <a:off x="469264" y="513366"/>
            <a:ext cx="9038909" cy="1030668"/>
            <a:chOff x="0" y="0"/>
            <a:chExt cx="12051879" cy="1374225"/>
          </a:xfrm>
        </p:grpSpPr>
        <p:sp>
          <p:nvSpPr>
            <p:cNvPr id="13" name="Freeform 13"/>
            <p:cNvSpPr/>
            <p:nvPr/>
          </p:nvSpPr>
          <p:spPr>
            <a:xfrm>
              <a:off x="0" y="256661"/>
              <a:ext cx="1152535" cy="905788"/>
            </a:xfrm>
            <a:custGeom>
              <a:avLst/>
              <a:gdLst/>
              <a:ahLst/>
              <a:cxnLst/>
              <a:rect l="l" t="t" r="r" b="b"/>
              <a:pathLst>
                <a:path w="1152535" h="905788">
                  <a:moveTo>
                    <a:pt x="0" y="0"/>
                  </a:moveTo>
                  <a:lnTo>
                    <a:pt x="1152535" y="0"/>
                  </a:lnTo>
                  <a:lnTo>
                    <a:pt x="1152535" y="905789"/>
                  </a:lnTo>
                  <a:lnTo>
                    <a:pt x="0" y="905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204" r="-58384" b="-3331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52535" y="0"/>
              <a:ext cx="10899344" cy="1374225"/>
            </a:xfrm>
            <a:custGeom>
              <a:avLst/>
              <a:gdLst/>
              <a:ahLst/>
              <a:cxnLst/>
              <a:rect l="l" t="t" r="r" b="b"/>
              <a:pathLst>
                <a:path w="10899344" h="1374225">
                  <a:moveTo>
                    <a:pt x="0" y="0"/>
                  </a:moveTo>
                  <a:lnTo>
                    <a:pt x="10899344" y="0"/>
                  </a:lnTo>
                  <a:lnTo>
                    <a:pt x="10899344" y="1374225"/>
                  </a:lnTo>
                  <a:lnTo>
                    <a:pt x="0" y="137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0621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2958611"/>
            <a:ext cx="10784681" cy="3885396"/>
            <a:chOff x="0" y="0"/>
            <a:chExt cx="14379575" cy="518052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2352139"/>
              <a:ext cx="14379575" cy="2828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72"/>
                </a:lnSpc>
              </a:pPr>
              <a:r>
                <a:rPr lang="en-US" sz="12765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Manutenção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38125"/>
              <a:ext cx="9513689" cy="2828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72"/>
                </a:lnSpc>
              </a:pPr>
              <a:r>
                <a:rPr lang="en-US" sz="12765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Tipos de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 rot="-5400000">
            <a:off x="17116386" y="4958358"/>
            <a:ext cx="1590445" cy="37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9"/>
              </a:lnSpc>
            </a:pPr>
            <a:r>
              <a:rPr lang="en-US" sz="2163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UFCD-5122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-332616" y="9116834"/>
            <a:ext cx="18736308" cy="1356608"/>
            <a:chOff x="0" y="0"/>
            <a:chExt cx="4934666" cy="3572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34665" cy="357296"/>
            </a:xfrm>
            <a:custGeom>
              <a:avLst/>
              <a:gdLst/>
              <a:ahLst/>
              <a:cxnLst/>
              <a:rect l="l" t="t" r="r" b="b"/>
              <a:pathLst>
                <a:path w="4934665" h="357296">
                  <a:moveTo>
                    <a:pt x="0" y="0"/>
                  </a:moveTo>
                  <a:lnTo>
                    <a:pt x="4934665" y="0"/>
                  </a:lnTo>
                  <a:lnTo>
                    <a:pt x="4934665" y="357296"/>
                  </a:lnTo>
                  <a:lnTo>
                    <a:pt x="0" y="3572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934666" cy="385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425448" y="9355913"/>
            <a:ext cx="356815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Kennedy Freitas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06779" y="9355913"/>
            <a:ext cx="465192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Leonardo silva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92523" y="9355913"/>
            <a:ext cx="321974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Gustavo Sousa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9300" y="9355913"/>
            <a:ext cx="27500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Kenay Fraga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49224" y="-4757497"/>
            <a:ext cx="5786197" cy="57861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14505" y="8663508"/>
            <a:ext cx="4148427" cy="414842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954294" y="6045497"/>
            <a:ext cx="2379413" cy="2379413"/>
          </a:xfrm>
          <a:custGeom>
            <a:avLst/>
            <a:gdLst/>
            <a:ahLst/>
            <a:cxnLst/>
            <a:rect l="l" t="t" r="r" b="b"/>
            <a:pathLst>
              <a:path w="2379413" h="2379413">
                <a:moveTo>
                  <a:pt x="0" y="0"/>
                </a:moveTo>
                <a:lnTo>
                  <a:pt x="2379412" y="0"/>
                </a:lnTo>
                <a:lnTo>
                  <a:pt x="2379412" y="2379413"/>
                </a:lnTo>
                <a:lnTo>
                  <a:pt x="0" y="2379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3751659" y="1631968"/>
            <a:ext cx="10784681" cy="218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72"/>
              </a:lnSpc>
            </a:pPr>
            <a:r>
              <a:rPr lang="en-US" sz="12765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Manutenção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15642" y="4190365"/>
            <a:ext cx="13256716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spc="3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Conservar, reparar e restaurar.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153525"/>
            <a:ext cx="328612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spc="3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17293" y="8793662"/>
            <a:ext cx="4018273" cy="40182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98832" y="-4757497"/>
            <a:ext cx="5786197" cy="57861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623" y="360702"/>
            <a:ext cx="17027045" cy="9217802"/>
            <a:chOff x="0" y="0"/>
            <a:chExt cx="4484489" cy="24277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4489" cy="2427734"/>
            </a:xfrm>
            <a:custGeom>
              <a:avLst/>
              <a:gdLst/>
              <a:ahLst/>
              <a:cxnLst/>
              <a:rect l="l" t="t" r="r" b="b"/>
              <a:pathLst>
                <a:path w="4484489" h="2427734">
                  <a:moveTo>
                    <a:pt x="0" y="0"/>
                  </a:moveTo>
                  <a:lnTo>
                    <a:pt x="4484489" y="0"/>
                  </a:lnTo>
                  <a:lnTo>
                    <a:pt x="4484489" y="2427734"/>
                  </a:lnTo>
                  <a:lnTo>
                    <a:pt x="0" y="242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484489" cy="2456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91744" y="1028700"/>
            <a:ext cx="7131863" cy="16907433"/>
          </a:xfrm>
          <a:custGeom>
            <a:avLst/>
            <a:gdLst/>
            <a:ahLst/>
            <a:cxnLst/>
            <a:rect l="l" t="t" r="r" b="b"/>
            <a:pathLst>
              <a:path w="7131863" h="16907433">
                <a:moveTo>
                  <a:pt x="0" y="0"/>
                </a:moveTo>
                <a:lnTo>
                  <a:pt x="7131862" y="0"/>
                </a:lnTo>
                <a:lnTo>
                  <a:pt x="7131862" y="16907433"/>
                </a:lnTo>
                <a:lnTo>
                  <a:pt x="0" y="16907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997439" y="790575"/>
            <a:ext cx="9009243" cy="2180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872"/>
              </a:lnSpc>
            </a:pPr>
            <a:r>
              <a:rPr lang="en-US" sz="12765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Objetivos</a:t>
            </a:r>
            <a:endParaRPr lang="en-US" sz="12765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24154" y="3724501"/>
            <a:ext cx="466219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Confiabilidade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4154" y="5147528"/>
            <a:ext cx="5488186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Manutenibilidade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4154" y="6570556"/>
            <a:ext cx="497353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Disponibilidade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4154" y="7993583"/>
            <a:ext cx="8563868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Lucratividade e rentabilidade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88904" y="9153525"/>
            <a:ext cx="46940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spc="3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43841" y="-2212415"/>
            <a:ext cx="5786197" cy="578619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1623" y="360702"/>
            <a:ext cx="17027045" cy="9217802"/>
            <a:chOff x="0" y="0"/>
            <a:chExt cx="4484489" cy="2427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84489" cy="2427734"/>
            </a:xfrm>
            <a:custGeom>
              <a:avLst/>
              <a:gdLst/>
              <a:ahLst/>
              <a:cxnLst/>
              <a:rect l="l" t="t" r="r" b="b"/>
              <a:pathLst>
                <a:path w="4484489" h="2427734">
                  <a:moveTo>
                    <a:pt x="0" y="0"/>
                  </a:moveTo>
                  <a:lnTo>
                    <a:pt x="4484489" y="0"/>
                  </a:lnTo>
                  <a:lnTo>
                    <a:pt x="4484489" y="2427734"/>
                  </a:lnTo>
                  <a:lnTo>
                    <a:pt x="0" y="242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484489" cy="2456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771160" y="4188185"/>
            <a:ext cx="9363158" cy="6332899"/>
          </a:xfrm>
          <a:custGeom>
            <a:avLst/>
            <a:gdLst/>
            <a:ahLst/>
            <a:cxnLst/>
            <a:rect l="l" t="t" r="r" b="b"/>
            <a:pathLst>
              <a:path w="9363158" h="6332899">
                <a:moveTo>
                  <a:pt x="0" y="0"/>
                </a:moveTo>
                <a:lnTo>
                  <a:pt x="9363158" y="0"/>
                </a:lnTo>
                <a:lnTo>
                  <a:pt x="9363158" y="6332900"/>
                </a:lnTo>
                <a:lnTo>
                  <a:pt x="0" y="6332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464246" y="819150"/>
            <a:ext cx="15359509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Manutenção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651415"/>
            <a:ext cx="7097316" cy="6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156" lvl="1" indent="-373578" algn="l">
              <a:lnSpc>
                <a:spcPts val="8651"/>
              </a:lnSpc>
              <a:buFont typeface="Arial"/>
              <a:buChar char="•"/>
            </a:pPr>
            <a:r>
              <a:rPr lang="en-US" sz="346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Manutenção Preventiva</a:t>
            </a:r>
          </a:p>
          <a:p>
            <a:pPr marL="747156" lvl="1" indent="-373578" algn="l">
              <a:lnSpc>
                <a:spcPts val="8651"/>
              </a:lnSpc>
              <a:buFont typeface="Arial"/>
              <a:buChar char="•"/>
            </a:pPr>
            <a:r>
              <a:rPr lang="en-US" sz="346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Manutenção Corritiva</a:t>
            </a:r>
          </a:p>
          <a:p>
            <a:pPr marL="747156" lvl="1" indent="-373578" algn="l">
              <a:lnSpc>
                <a:spcPts val="8651"/>
              </a:lnSpc>
              <a:buFont typeface="Arial"/>
              <a:buChar char="•"/>
            </a:pPr>
            <a:r>
              <a:rPr lang="en-US" sz="346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Manutenção Preditiva</a:t>
            </a:r>
          </a:p>
          <a:p>
            <a:pPr marL="747156" lvl="1" indent="-373578" algn="l">
              <a:lnSpc>
                <a:spcPts val="8651"/>
              </a:lnSpc>
              <a:buFont typeface="Arial"/>
              <a:buChar char="•"/>
            </a:pPr>
            <a:r>
              <a:rPr lang="en-US" sz="346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Manutenção Prescritiva</a:t>
            </a:r>
          </a:p>
          <a:p>
            <a:pPr marL="747156" lvl="1" indent="-373578" algn="l">
              <a:lnSpc>
                <a:spcPts val="8651"/>
              </a:lnSpc>
              <a:buFont typeface="Arial"/>
              <a:buChar char="•"/>
            </a:pPr>
            <a:r>
              <a:rPr lang="en-US" sz="346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Manutenção Detectiva</a:t>
            </a:r>
          </a:p>
          <a:p>
            <a:pPr marL="747156" lvl="1" indent="-373578" algn="l">
              <a:lnSpc>
                <a:spcPts val="8651"/>
              </a:lnSpc>
              <a:buFont typeface="Arial"/>
              <a:buChar char="•"/>
            </a:pPr>
            <a:r>
              <a:rPr lang="en-US" sz="346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Manutenção Produtiva Total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88160" y="9153525"/>
            <a:ext cx="470892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1" spc="3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AutoShape 15"/>
          <p:cNvSpPr/>
          <p:nvPr/>
        </p:nvSpPr>
        <p:spPr>
          <a:xfrm>
            <a:off x="5869072" y="6168927"/>
            <a:ext cx="2462870" cy="0"/>
          </a:xfrm>
          <a:prstGeom prst="line">
            <a:avLst/>
          </a:prstGeom>
          <a:ln w="38100" cap="flat">
            <a:solidFill>
              <a:srgbClr val="A5493A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 rot="2700000">
            <a:off x="8268218" y="5293145"/>
            <a:ext cx="1751564" cy="175156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0871" tIns="30871" rIns="30871" bIns="30871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45037" y="4381500"/>
            <a:ext cx="3450791" cy="345079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A5493A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4470433" y="4381500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" name="AutoShape 23"/>
          <p:cNvSpPr/>
          <p:nvPr/>
        </p:nvSpPr>
        <p:spPr>
          <a:xfrm flipH="1">
            <a:off x="4470433" y="7321117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4" name="Group 24"/>
          <p:cNvGrpSpPr/>
          <p:nvPr/>
        </p:nvGrpSpPr>
        <p:grpSpPr>
          <a:xfrm>
            <a:off x="12092172" y="4381500"/>
            <a:ext cx="3450791" cy="345079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7" name="AutoShape 27"/>
          <p:cNvSpPr/>
          <p:nvPr/>
        </p:nvSpPr>
        <p:spPr>
          <a:xfrm>
            <a:off x="13817567" y="4381500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" name="AutoShape 28"/>
          <p:cNvSpPr/>
          <p:nvPr/>
        </p:nvSpPr>
        <p:spPr>
          <a:xfrm>
            <a:off x="13817567" y="7321117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9" name="AutoShape 29"/>
          <p:cNvSpPr/>
          <p:nvPr/>
        </p:nvSpPr>
        <p:spPr>
          <a:xfrm>
            <a:off x="9830178" y="6168927"/>
            <a:ext cx="2261993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Box 30"/>
          <p:cNvSpPr txBox="1"/>
          <p:nvPr/>
        </p:nvSpPr>
        <p:spPr>
          <a:xfrm>
            <a:off x="3109561" y="3142475"/>
            <a:ext cx="2735596" cy="62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Preventiva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50146" y="3142475"/>
            <a:ext cx="2528293" cy="629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Corretiva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64246" y="819150"/>
            <a:ext cx="15359509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Manutenção</a:t>
            </a:r>
          </a:p>
        </p:txBody>
      </p:sp>
      <p:sp>
        <p:nvSpPr>
          <p:cNvPr id="33" name="Freeform 33"/>
          <p:cNvSpPr/>
          <p:nvPr/>
        </p:nvSpPr>
        <p:spPr>
          <a:xfrm>
            <a:off x="3567058" y="5201247"/>
            <a:ext cx="1806750" cy="1806750"/>
          </a:xfrm>
          <a:custGeom>
            <a:avLst/>
            <a:gdLst/>
            <a:ahLst/>
            <a:cxnLst/>
            <a:rect l="l" t="t" r="r" b="b"/>
            <a:pathLst>
              <a:path w="1806750" h="1806750">
                <a:moveTo>
                  <a:pt x="0" y="0"/>
                </a:moveTo>
                <a:lnTo>
                  <a:pt x="1806750" y="0"/>
                </a:lnTo>
                <a:lnTo>
                  <a:pt x="1806750" y="1806749"/>
                </a:lnTo>
                <a:lnTo>
                  <a:pt x="0" y="180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4" name="Freeform 34"/>
          <p:cNvSpPr/>
          <p:nvPr/>
        </p:nvSpPr>
        <p:spPr>
          <a:xfrm>
            <a:off x="8620236" y="5645164"/>
            <a:ext cx="1047527" cy="1047527"/>
          </a:xfrm>
          <a:custGeom>
            <a:avLst/>
            <a:gdLst/>
            <a:ahLst/>
            <a:cxnLst/>
            <a:rect l="l" t="t" r="r" b="b"/>
            <a:pathLst>
              <a:path w="1047527" h="1047527">
                <a:moveTo>
                  <a:pt x="0" y="0"/>
                </a:moveTo>
                <a:lnTo>
                  <a:pt x="1047528" y="0"/>
                </a:lnTo>
                <a:lnTo>
                  <a:pt x="1047528" y="1047527"/>
                </a:lnTo>
                <a:lnTo>
                  <a:pt x="0" y="10475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5" name="Freeform 35"/>
          <p:cNvSpPr/>
          <p:nvPr/>
        </p:nvSpPr>
        <p:spPr>
          <a:xfrm>
            <a:off x="13122058" y="5120187"/>
            <a:ext cx="1391017" cy="1887809"/>
          </a:xfrm>
          <a:custGeom>
            <a:avLst/>
            <a:gdLst/>
            <a:ahLst/>
            <a:cxnLst/>
            <a:rect l="l" t="t" r="r" b="b"/>
            <a:pathLst>
              <a:path w="1391017" h="1887809">
                <a:moveTo>
                  <a:pt x="0" y="0"/>
                </a:moveTo>
                <a:lnTo>
                  <a:pt x="1391018" y="0"/>
                </a:lnTo>
                <a:lnTo>
                  <a:pt x="1391018" y="1887809"/>
                </a:lnTo>
                <a:lnTo>
                  <a:pt x="0" y="1887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7776270" y="962025"/>
            <a:ext cx="2735461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Preventiva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718458" y="5717458"/>
            <a:ext cx="3540842" cy="3540842"/>
            <a:chOff x="0" y="0"/>
            <a:chExt cx="4721123" cy="472112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721123" cy="4721123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48900" tIns="48900" rIns="48900" bIns="489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124629" y="1121518"/>
              <a:ext cx="2471864" cy="2471864"/>
            </a:xfrm>
            <a:custGeom>
              <a:avLst/>
              <a:gdLst/>
              <a:ahLst/>
              <a:cxnLst/>
              <a:rect l="l" t="t" r="r" b="b"/>
              <a:pathLst>
                <a:path w="2471864" h="2471864">
                  <a:moveTo>
                    <a:pt x="0" y="0"/>
                  </a:moveTo>
                  <a:lnTo>
                    <a:pt x="2471865" y="0"/>
                  </a:lnTo>
                  <a:lnTo>
                    <a:pt x="2471865" y="2471864"/>
                  </a:lnTo>
                  <a:lnTo>
                    <a:pt x="0" y="2471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807619" y="1786660"/>
            <a:ext cx="10672762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Procura evitar falhas antes que estas aconteçam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718076"/>
            <a:ext cx="10833140" cy="1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l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Intervenções programadas e inspeções regulares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965989"/>
            <a:ext cx="2778919" cy="602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sz="363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Estratégia</a:t>
            </a:r>
            <a:endParaRPr lang="en-US" sz="363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8700" y="5076825"/>
            <a:ext cx="3644530" cy="58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 CMMS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7177537"/>
            <a:ext cx="7360615" cy="1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l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459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utomatizar o agendamento das inspecções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5769888"/>
            <a:ext cx="10833140" cy="1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l">
              <a:lnSpc>
                <a:spcPts val="4843"/>
              </a:lnSpc>
              <a:buFont typeface="Arial"/>
              <a:buChar char="•"/>
            </a:pP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459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crónimo</a:t>
            </a:r>
            <a:r>
              <a:rPr lang="en-US" sz="345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para Computerized Maintenance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17293" y="8793662"/>
            <a:ext cx="4018273" cy="40182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98832" y="-4757497"/>
            <a:ext cx="5786197" cy="57861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623" y="360702"/>
            <a:ext cx="17027045" cy="9217802"/>
            <a:chOff x="0" y="0"/>
            <a:chExt cx="4484489" cy="24277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4489" cy="2427734"/>
            </a:xfrm>
            <a:custGeom>
              <a:avLst/>
              <a:gdLst/>
              <a:ahLst/>
              <a:cxnLst/>
              <a:rect l="l" t="t" r="r" b="b"/>
              <a:pathLst>
                <a:path w="4484489" h="2427734">
                  <a:moveTo>
                    <a:pt x="0" y="0"/>
                  </a:moveTo>
                  <a:lnTo>
                    <a:pt x="4484489" y="0"/>
                  </a:lnTo>
                  <a:lnTo>
                    <a:pt x="4484489" y="2427734"/>
                  </a:lnTo>
                  <a:lnTo>
                    <a:pt x="0" y="242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484489" cy="2456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8266381" y="5576154"/>
            <a:ext cx="1751564" cy="175156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0871" tIns="30871" rIns="30871" bIns="30871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8671269" y="5981043"/>
            <a:ext cx="941787" cy="941787"/>
          </a:xfrm>
          <a:custGeom>
            <a:avLst/>
            <a:gdLst/>
            <a:ahLst/>
            <a:cxnLst/>
            <a:rect l="l" t="t" r="r" b="b"/>
            <a:pathLst>
              <a:path w="941787" h="941787">
                <a:moveTo>
                  <a:pt x="0" y="0"/>
                </a:moveTo>
                <a:lnTo>
                  <a:pt x="941788" y="0"/>
                </a:lnTo>
                <a:lnTo>
                  <a:pt x="941788" y="941787"/>
                </a:lnTo>
                <a:lnTo>
                  <a:pt x="0" y="941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8" name="Group 18"/>
          <p:cNvGrpSpPr/>
          <p:nvPr/>
        </p:nvGrpSpPr>
        <p:grpSpPr>
          <a:xfrm>
            <a:off x="2743200" y="4664509"/>
            <a:ext cx="3450791" cy="34507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468596" y="4664509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AutoShape 22"/>
          <p:cNvSpPr/>
          <p:nvPr/>
        </p:nvSpPr>
        <p:spPr>
          <a:xfrm flipH="1">
            <a:off x="4470433" y="7041093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3" name="Group 23"/>
          <p:cNvGrpSpPr/>
          <p:nvPr/>
        </p:nvGrpSpPr>
        <p:grpSpPr>
          <a:xfrm>
            <a:off x="12090335" y="4664509"/>
            <a:ext cx="3450791" cy="345079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13815730" y="4664509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7" name="AutoShape 27"/>
          <p:cNvSpPr/>
          <p:nvPr/>
        </p:nvSpPr>
        <p:spPr>
          <a:xfrm>
            <a:off x="13817567" y="7041093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" name="AutoShape 28"/>
          <p:cNvSpPr/>
          <p:nvPr/>
        </p:nvSpPr>
        <p:spPr>
          <a:xfrm>
            <a:off x="5867235" y="6451936"/>
            <a:ext cx="246287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9" name="AutoShape 29"/>
          <p:cNvSpPr/>
          <p:nvPr/>
        </p:nvSpPr>
        <p:spPr>
          <a:xfrm>
            <a:off x="9828341" y="6451936"/>
            <a:ext cx="2261993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0" name="Freeform 30"/>
          <p:cNvSpPr/>
          <p:nvPr/>
        </p:nvSpPr>
        <p:spPr>
          <a:xfrm>
            <a:off x="3502981" y="5839977"/>
            <a:ext cx="1945083" cy="1099856"/>
          </a:xfrm>
          <a:custGeom>
            <a:avLst/>
            <a:gdLst/>
            <a:ahLst/>
            <a:cxnLst/>
            <a:rect l="l" t="t" r="r" b="b"/>
            <a:pathLst>
              <a:path w="1945083" h="1099856">
                <a:moveTo>
                  <a:pt x="0" y="0"/>
                </a:moveTo>
                <a:lnTo>
                  <a:pt x="1945083" y="0"/>
                </a:lnTo>
                <a:lnTo>
                  <a:pt x="1945083" y="1099855"/>
                </a:lnTo>
                <a:lnTo>
                  <a:pt x="0" y="10998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1" name="Freeform 31"/>
          <p:cNvSpPr/>
          <p:nvPr/>
        </p:nvSpPr>
        <p:spPr>
          <a:xfrm>
            <a:off x="12908135" y="5691039"/>
            <a:ext cx="1815190" cy="1502176"/>
          </a:xfrm>
          <a:custGeom>
            <a:avLst/>
            <a:gdLst/>
            <a:ahLst/>
            <a:cxnLst/>
            <a:rect l="l" t="t" r="r" b="b"/>
            <a:pathLst>
              <a:path w="1815190" h="1502176">
                <a:moveTo>
                  <a:pt x="0" y="0"/>
                </a:moveTo>
                <a:lnTo>
                  <a:pt x="1815190" y="0"/>
                </a:lnTo>
                <a:lnTo>
                  <a:pt x="1815190" y="1502175"/>
                </a:lnTo>
                <a:lnTo>
                  <a:pt x="0" y="1502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2" name="TextBox 32"/>
          <p:cNvSpPr txBox="1"/>
          <p:nvPr/>
        </p:nvSpPr>
        <p:spPr>
          <a:xfrm>
            <a:off x="2742023" y="3300046"/>
            <a:ext cx="3470672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Condicionada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38216" y="3300046"/>
            <a:ext cx="3054180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Sistemática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19415" y="4975965"/>
            <a:ext cx="1845496" cy="42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4"/>
              </a:lnSpc>
            </a:pPr>
            <a:r>
              <a:rPr lang="en-US" sz="2510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Preventiva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30157" y="819150"/>
            <a:ext cx="15027686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Preventiva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2122064" y="3844589"/>
            <a:ext cx="1992293" cy="199229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2566304" y="4362693"/>
            <a:ext cx="1103813" cy="913470"/>
          </a:xfrm>
          <a:custGeom>
            <a:avLst/>
            <a:gdLst/>
            <a:ahLst/>
            <a:cxnLst/>
            <a:rect l="l" t="t" r="r" b="b"/>
            <a:pathLst>
              <a:path w="1103813" h="913470">
                <a:moveTo>
                  <a:pt x="0" y="0"/>
                </a:moveTo>
                <a:lnTo>
                  <a:pt x="1103813" y="0"/>
                </a:lnTo>
                <a:lnTo>
                  <a:pt x="1103813" y="913470"/>
                </a:lnTo>
                <a:lnTo>
                  <a:pt x="0" y="913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12007442" y="3066372"/>
            <a:ext cx="2221537" cy="46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2"/>
              </a:lnSpc>
              <a:spcBef>
                <a:spcPct val="0"/>
              </a:spcBef>
            </a:pPr>
            <a:r>
              <a:rPr lang="en-US" sz="2794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Sistemática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26735" y="6419210"/>
            <a:ext cx="4582950" cy="53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sz="31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fixo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26735" y="7167536"/>
            <a:ext cx="4582950" cy="110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sz="31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Ex: T</a:t>
            </a:r>
            <a:r>
              <a:rPr lang="en-US" sz="3192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roca de óleo a cada 5.000 km.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78314" y="7702690"/>
            <a:ext cx="5217215" cy="110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sz="31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Ex: </a:t>
            </a:r>
            <a:r>
              <a:rPr lang="en-US" sz="3192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Lubrificação após X horas de operação.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4490775" y="3847428"/>
            <a:ext cx="1992293" cy="199229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4925431" y="4526077"/>
            <a:ext cx="1122981" cy="634995"/>
          </a:xfrm>
          <a:custGeom>
            <a:avLst/>
            <a:gdLst/>
            <a:ahLst/>
            <a:cxnLst/>
            <a:rect l="l" t="t" r="r" b="b"/>
            <a:pathLst>
              <a:path w="1122981" h="634995">
                <a:moveTo>
                  <a:pt x="0" y="0"/>
                </a:moveTo>
                <a:lnTo>
                  <a:pt x="1122981" y="0"/>
                </a:lnTo>
                <a:lnTo>
                  <a:pt x="1122981" y="634995"/>
                </a:lnTo>
                <a:lnTo>
                  <a:pt x="0" y="634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4078804" y="3066372"/>
            <a:ext cx="2816236" cy="46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2"/>
              </a:lnSpc>
              <a:spcBef>
                <a:spcPct val="0"/>
              </a:spcBef>
            </a:pPr>
            <a:r>
              <a:rPr lang="en-US" sz="2794" b="1" u="none" strike="noStrik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Condicionada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78314" y="6391978"/>
            <a:ext cx="5217215" cy="110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sz="3192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Baseada no uso do equipamento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30157" y="819150"/>
            <a:ext cx="15027686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Preventiva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3530574" y="3306404"/>
            <a:ext cx="2486501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Vantagens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721" y="4054135"/>
            <a:ext cx="7198209" cy="285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Maior confiabilidade dos equipamentos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Menor risco de paradas não planejadas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Redução de custos com reparos emergenciais 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Maior vida útil dos ativos.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54182" y="3306404"/>
            <a:ext cx="3457218" cy="58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Desvantagens</a:t>
            </a:r>
            <a:endParaRPr lang="en-US" sz="345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90021" y="4054135"/>
            <a:ext cx="7823259" cy="228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Pode ser mais custosa do que a corretiva no curto prazo</a:t>
            </a:r>
          </a:p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Requer planejamento e acompanhamento rigorosos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76270" y="962025"/>
            <a:ext cx="2735461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Preventiva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979799"/>
            <a:ext cx="6508516" cy="65085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98832" y="-4757497"/>
            <a:ext cx="5786197" cy="57861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623" y="360702"/>
            <a:ext cx="17027045" cy="9217802"/>
            <a:chOff x="0" y="0"/>
            <a:chExt cx="4484489" cy="24277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4489" cy="2427734"/>
            </a:xfrm>
            <a:custGeom>
              <a:avLst/>
              <a:gdLst/>
              <a:ahLst/>
              <a:cxnLst/>
              <a:rect l="l" t="t" r="r" b="b"/>
              <a:pathLst>
                <a:path w="4484489" h="2427734">
                  <a:moveTo>
                    <a:pt x="0" y="0"/>
                  </a:moveTo>
                  <a:lnTo>
                    <a:pt x="4484489" y="0"/>
                  </a:lnTo>
                  <a:lnTo>
                    <a:pt x="4484489" y="2427734"/>
                  </a:lnTo>
                  <a:lnTo>
                    <a:pt x="0" y="242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484489" cy="2456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5869072" y="6169511"/>
            <a:ext cx="246287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2905024" y="5238244"/>
            <a:ext cx="1859154" cy="1859154"/>
          </a:xfrm>
          <a:custGeom>
            <a:avLst/>
            <a:gdLst/>
            <a:ahLst/>
            <a:cxnLst/>
            <a:rect l="l" t="t" r="r" b="b"/>
            <a:pathLst>
              <a:path w="1859154" h="1859154">
                <a:moveTo>
                  <a:pt x="0" y="0"/>
                </a:moveTo>
                <a:lnTo>
                  <a:pt x="1859154" y="0"/>
                </a:lnTo>
                <a:lnTo>
                  <a:pt x="1859154" y="1859154"/>
                </a:lnTo>
                <a:lnTo>
                  <a:pt x="0" y="1859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 rot="2700000">
            <a:off x="8268218" y="5293729"/>
            <a:ext cx="1751564" cy="175156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0871" tIns="30871" rIns="30871" bIns="30871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45037" y="4382084"/>
            <a:ext cx="3450791" cy="345079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4470433" y="4382084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" name="AutoShape 23"/>
          <p:cNvSpPr/>
          <p:nvPr/>
        </p:nvSpPr>
        <p:spPr>
          <a:xfrm flipH="1">
            <a:off x="4470433" y="7321701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" name="Freeform 24"/>
          <p:cNvSpPr/>
          <p:nvPr/>
        </p:nvSpPr>
        <p:spPr>
          <a:xfrm>
            <a:off x="12856602" y="5210293"/>
            <a:ext cx="1921931" cy="1918437"/>
          </a:xfrm>
          <a:custGeom>
            <a:avLst/>
            <a:gdLst/>
            <a:ahLst/>
            <a:cxnLst/>
            <a:rect l="l" t="t" r="r" b="b"/>
            <a:pathLst>
              <a:path w="1921931" h="1918437">
                <a:moveTo>
                  <a:pt x="0" y="0"/>
                </a:moveTo>
                <a:lnTo>
                  <a:pt x="1921931" y="0"/>
                </a:lnTo>
                <a:lnTo>
                  <a:pt x="1921931" y="1918437"/>
                </a:lnTo>
                <a:lnTo>
                  <a:pt x="0" y="191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5" name="Group 25"/>
          <p:cNvGrpSpPr/>
          <p:nvPr/>
        </p:nvGrpSpPr>
        <p:grpSpPr>
          <a:xfrm>
            <a:off x="12092172" y="4382084"/>
            <a:ext cx="3450791" cy="34507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>
            <a:off x="13817567" y="4382084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9" name="AutoShape 29"/>
          <p:cNvSpPr/>
          <p:nvPr/>
        </p:nvSpPr>
        <p:spPr>
          <a:xfrm>
            <a:off x="13817567" y="7321701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0" name="AutoShape 30"/>
          <p:cNvSpPr/>
          <p:nvPr/>
        </p:nvSpPr>
        <p:spPr>
          <a:xfrm>
            <a:off x="9830178" y="6169511"/>
            <a:ext cx="2261993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1" name="Freeform 31"/>
          <p:cNvSpPr/>
          <p:nvPr/>
        </p:nvSpPr>
        <p:spPr>
          <a:xfrm>
            <a:off x="8683302" y="5909007"/>
            <a:ext cx="921396" cy="521008"/>
          </a:xfrm>
          <a:custGeom>
            <a:avLst/>
            <a:gdLst/>
            <a:ahLst/>
            <a:cxnLst/>
            <a:rect l="l" t="t" r="r" b="b"/>
            <a:pathLst>
              <a:path w="921396" h="521008">
                <a:moveTo>
                  <a:pt x="0" y="0"/>
                </a:moveTo>
                <a:lnTo>
                  <a:pt x="921396" y="0"/>
                </a:lnTo>
                <a:lnTo>
                  <a:pt x="921396" y="521008"/>
                </a:lnTo>
                <a:lnTo>
                  <a:pt x="0" y="521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2" name="Freeform 32"/>
          <p:cNvSpPr/>
          <p:nvPr/>
        </p:nvSpPr>
        <p:spPr>
          <a:xfrm>
            <a:off x="3564816" y="5194936"/>
            <a:ext cx="1825087" cy="1825087"/>
          </a:xfrm>
          <a:custGeom>
            <a:avLst/>
            <a:gdLst/>
            <a:ahLst/>
            <a:cxnLst/>
            <a:rect l="l" t="t" r="r" b="b"/>
            <a:pathLst>
              <a:path w="1825087" h="1825087">
                <a:moveTo>
                  <a:pt x="0" y="0"/>
                </a:moveTo>
                <a:lnTo>
                  <a:pt x="1825087" y="0"/>
                </a:lnTo>
                <a:lnTo>
                  <a:pt x="1825087" y="1825087"/>
                </a:lnTo>
                <a:lnTo>
                  <a:pt x="0" y="1825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3" name="TextBox 33"/>
          <p:cNvSpPr txBox="1"/>
          <p:nvPr/>
        </p:nvSpPr>
        <p:spPr>
          <a:xfrm>
            <a:off x="1028700" y="819150"/>
            <a:ext cx="16392561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Condicionada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33345" y="3300046"/>
            <a:ext cx="2288029" cy="62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Preditiva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08547" y="3300046"/>
            <a:ext cx="3418041" cy="62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Não Preditiva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73400" y="4693541"/>
            <a:ext cx="2393377" cy="426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4"/>
              </a:lnSpc>
            </a:pPr>
            <a:r>
              <a:rPr lang="en-US" sz="251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Condicionada</a:t>
            </a:r>
            <a:endParaRPr lang="en-US" sz="2510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7999958" y="962025"/>
            <a:ext cx="2288084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Preditiva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786660"/>
            <a:ext cx="16230600" cy="1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Tem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monitorar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desempenho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dos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equipamentos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forma a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antecipar</a:t>
            </a:r>
            <a:r>
              <a:rPr lang="en-US" sz="345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5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falhas</a:t>
            </a:r>
            <a:endParaRPr lang="en-US" sz="345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3978142"/>
            <a:ext cx="16230600" cy="1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just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Analise através de indicadores, alguma ação é tomada sempre que os números indicados estão fora dos padrões estabelecidos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175248"/>
            <a:ext cx="2612825" cy="602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sz="363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Estratégia</a:t>
            </a:r>
            <a:endParaRPr lang="en-US" sz="363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808509" y="5836563"/>
            <a:ext cx="3450791" cy="345079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marL="0" lvl="0" indent="0" algn="ctr">
                <a:lnSpc>
                  <a:spcPts val="8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5376158"/>
            <a:ext cx="11808496" cy="302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just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Indicadores: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Análise de vibração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Termografia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Analise de Óleo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Ultrassom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438462" y="6466517"/>
            <a:ext cx="2190884" cy="2190884"/>
          </a:xfrm>
          <a:custGeom>
            <a:avLst/>
            <a:gdLst/>
            <a:ahLst/>
            <a:cxnLst/>
            <a:rect l="l" t="t" r="r" b="b"/>
            <a:pathLst>
              <a:path w="2190884" h="2190884">
                <a:moveTo>
                  <a:pt x="0" y="0"/>
                </a:moveTo>
                <a:lnTo>
                  <a:pt x="2190884" y="0"/>
                </a:lnTo>
                <a:lnTo>
                  <a:pt x="2190884" y="2190884"/>
                </a:lnTo>
                <a:lnTo>
                  <a:pt x="0" y="2190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4438462" y="6466517"/>
            <a:ext cx="2190884" cy="2190884"/>
          </a:xfrm>
          <a:custGeom>
            <a:avLst/>
            <a:gdLst/>
            <a:ahLst/>
            <a:cxnLst/>
            <a:rect l="l" t="t" r="r" b="b"/>
            <a:pathLst>
              <a:path w="2190884" h="2190884">
                <a:moveTo>
                  <a:pt x="0" y="0"/>
                </a:moveTo>
                <a:lnTo>
                  <a:pt x="2190884" y="0"/>
                </a:lnTo>
                <a:lnTo>
                  <a:pt x="2190884" y="2190884"/>
                </a:lnTo>
                <a:lnTo>
                  <a:pt x="0" y="2190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4296283" y="6349038"/>
            <a:ext cx="2452751" cy="2448292"/>
          </a:xfrm>
          <a:custGeom>
            <a:avLst/>
            <a:gdLst/>
            <a:ahLst/>
            <a:cxnLst/>
            <a:rect l="l" t="t" r="r" b="b"/>
            <a:pathLst>
              <a:path w="2452751" h="2448292">
                <a:moveTo>
                  <a:pt x="0" y="0"/>
                </a:moveTo>
                <a:lnTo>
                  <a:pt x="2452752" y="0"/>
                </a:lnTo>
                <a:lnTo>
                  <a:pt x="2452752" y="2448292"/>
                </a:lnTo>
                <a:lnTo>
                  <a:pt x="0" y="2448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7" name="Group 17"/>
          <p:cNvGrpSpPr/>
          <p:nvPr/>
        </p:nvGrpSpPr>
        <p:grpSpPr>
          <a:xfrm>
            <a:off x="13808509" y="5836563"/>
            <a:ext cx="3450791" cy="345079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marL="0" lvl="0" indent="0" algn="ctr">
                <a:lnSpc>
                  <a:spcPts val="8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434932" y="962025"/>
            <a:ext cx="3418136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Não Preditiva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1786660"/>
            <a:ext cx="16230600" cy="1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 manutenção condicionada não preditiva, a manutenção é realizada com base na condição observada do equipamento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978142"/>
            <a:ext cx="16230600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just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Analise através de indicadores físicos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3175248"/>
            <a:ext cx="2612825" cy="602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sz="363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Estratégia</a:t>
            </a:r>
            <a:endParaRPr lang="en-US" sz="363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8700" y="4802305"/>
            <a:ext cx="11808496" cy="241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just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Indicadores: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Ruídos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Vibrações</a:t>
            </a:r>
          </a:p>
          <a:p>
            <a:pPr marL="1494027" lvl="2" indent="-498009" algn="just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Aquecimento excessivos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3530574" y="3306404"/>
            <a:ext cx="2486501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Vantagens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721" y="4054135"/>
            <a:ext cx="7198209" cy="344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Permite ações proativas para evitar falhas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Otimiza a gestão de recursos e tempo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Maximiza a vida útil dos equipamentos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Reduz custos de manutenção e operação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54182" y="3306404"/>
            <a:ext cx="3381018" cy="58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Desvantagens</a:t>
            </a:r>
            <a:endParaRPr lang="en-US" sz="345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4000" y="4054135"/>
            <a:ext cx="7823259" cy="228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Requer investimento em tecnologia e expertise</a:t>
            </a:r>
          </a:p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Nem todos os equipamentos são compatíveis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9958" y="962025"/>
            <a:ext cx="2288084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Preditiva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17293" y="8793662"/>
            <a:ext cx="4018273" cy="40182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98832" y="-4757497"/>
            <a:ext cx="5786197" cy="57861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623" y="360702"/>
            <a:ext cx="17027045" cy="9217802"/>
            <a:chOff x="0" y="0"/>
            <a:chExt cx="4484489" cy="24277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4489" cy="2427734"/>
            </a:xfrm>
            <a:custGeom>
              <a:avLst/>
              <a:gdLst/>
              <a:ahLst/>
              <a:cxnLst/>
              <a:rect l="l" t="t" r="r" b="b"/>
              <a:pathLst>
                <a:path w="4484489" h="2427734">
                  <a:moveTo>
                    <a:pt x="0" y="0"/>
                  </a:moveTo>
                  <a:lnTo>
                    <a:pt x="4484489" y="0"/>
                  </a:lnTo>
                  <a:lnTo>
                    <a:pt x="4484489" y="2427734"/>
                  </a:lnTo>
                  <a:lnTo>
                    <a:pt x="0" y="242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484489" cy="2456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830178" y="6299536"/>
            <a:ext cx="2261993" cy="0"/>
          </a:xfrm>
          <a:prstGeom prst="line">
            <a:avLst/>
          </a:prstGeom>
          <a:ln w="38100" cap="flat">
            <a:solidFill>
              <a:srgbClr val="A5493A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5" name="Group 15"/>
          <p:cNvGrpSpPr/>
          <p:nvPr/>
        </p:nvGrpSpPr>
        <p:grpSpPr>
          <a:xfrm rot="2700000">
            <a:off x="8268218" y="5423754"/>
            <a:ext cx="1751564" cy="175156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0871" tIns="30871" rIns="30871" bIns="30871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5037" y="4512109"/>
            <a:ext cx="3450791" cy="34507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470433" y="4512109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AutoShape 22"/>
          <p:cNvSpPr/>
          <p:nvPr/>
        </p:nvSpPr>
        <p:spPr>
          <a:xfrm flipH="1">
            <a:off x="4470433" y="7041093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3" name="Group 23"/>
          <p:cNvGrpSpPr/>
          <p:nvPr/>
        </p:nvGrpSpPr>
        <p:grpSpPr>
          <a:xfrm>
            <a:off x="12092172" y="4512109"/>
            <a:ext cx="3450791" cy="345079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A5493A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13817567" y="4512109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7" name="AutoShape 27"/>
          <p:cNvSpPr/>
          <p:nvPr/>
        </p:nvSpPr>
        <p:spPr>
          <a:xfrm>
            <a:off x="13817567" y="7041093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" name="AutoShape 28"/>
          <p:cNvSpPr/>
          <p:nvPr/>
        </p:nvSpPr>
        <p:spPr>
          <a:xfrm>
            <a:off x="5869072" y="6299536"/>
            <a:ext cx="246287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Box 29"/>
          <p:cNvSpPr txBox="1"/>
          <p:nvPr/>
        </p:nvSpPr>
        <p:spPr>
          <a:xfrm>
            <a:off x="3109561" y="3300046"/>
            <a:ext cx="2735596" cy="62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Preventiva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50146" y="3300046"/>
            <a:ext cx="2361251" cy="629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Corretiva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64246" y="819150"/>
            <a:ext cx="15359509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Manutenção</a:t>
            </a:r>
          </a:p>
        </p:txBody>
      </p:sp>
      <p:sp>
        <p:nvSpPr>
          <p:cNvPr id="32" name="Freeform 32"/>
          <p:cNvSpPr/>
          <p:nvPr/>
        </p:nvSpPr>
        <p:spPr>
          <a:xfrm>
            <a:off x="3567058" y="5331856"/>
            <a:ext cx="1806750" cy="1806750"/>
          </a:xfrm>
          <a:custGeom>
            <a:avLst/>
            <a:gdLst/>
            <a:ahLst/>
            <a:cxnLst/>
            <a:rect l="l" t="t" r="r" b="b"/>
            <a:pathLst>
              <a:path w="1806750" h="1806750">
                <a:moveTo>
                  <a:pt x="0" y="0"/>
                </a:moveTo>
                <a:lnTo>
                  <a:pt x="1806750" y="0"/>
                </a:lnTo>
                <a:lnTo>
                  <a:pt x="1806750" y="1806749"/>
                </a:lnTo>
                <a:lnTo>
                  <a:pt x="0" y="180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3" name="Freeform 33"/>
          <p:cNvSpPr/>
          <p:nvPr/>
        </p:nvSpPr>
        <p:spPr>
          <a:xfrm>
            <a:off x="8620236" y="5775773"/>
            <a:ext cx="1047527" cy="1047527"/>
          </a:xfrm>
          <a:custGeom>
            <a:avLst/>
            <a:gdLst/>
            <a:ahLst/>
            <a:cxnLst/>
            <a:rect l="l" t="t" r="r" b="b"/>
            <a:pathLst>
              <a:path w="1047527" h="1047527">
                <a:moveTo>
                  <a:pt x="0" y="0"/>
                </a:moveTo>
                <a:lnTo>
                  <a:pt x="1047528" y="0"/>
                </a:lnTo>
                <a:lnTo>
                  <a:pt x="1047528" y="1047527"/>
                </a:lnTo>
                <a:lnTo>
                  <a:pt x="0" y="10475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4" name="Freeform 34"/>
          <p:cNvSpPr/>
          <p:nvPr/>
        </p:nvSpPr>
        <p:spPr>
          <a:xfrm>
            <a:off x="13122058" y="5250796"/>
            <a:ext cx="1391017" cy="1887809"/>
          </a:xfrm>
          <a:custGeom>
            <a:avLst/>
            <a:gdLst/>
            <a:ahLst/>
            <a:cxnLst/>
            <a:rect l="l" t="t" r="r" b="b"/>
            <a:pathLst>
              <a:path w="1391017" h="1887809">
                <a:moveTo>
                  <a:pt x="0" y="0"/>
                </a:moveTo>
                <a:lnTo>
                  <a:pt x="1391018" y="0"/>
                </a:lnTo>
                <a:lnTo>
                  <a:pt x="1391018" y="1887809"/>
                </a:lnTo>
                <a:lnTo>
                  <a:pt x="0" y="1887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7976652" y="962025"/>
            <a:ext cx="2538948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Corretiva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13137" y="1786660"/>
            <a:ext cx="12861727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Reparar os equipamentos quando os mesmos se avariam.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959189"/>
            <a:ext cx="8349721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just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Utilizar de forma estrategica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965795"/>
            <a:ext cx="2705100" cy="602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5"/>
              </a:lnSpc>
              <a:spcBef>
                <a:spcPct val="0"/>
              </a:spcBef>
            </a:pPr>
            <a:r>
              <a:rPr lang="en-US" sz="363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Estratégia</a:t>
            </a:r>
            <a:endParaRPr lang="en-US" sz="363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808509" y="5836563"/>
            <a:ext cx="3450791" cy="3450791"/>
            <a:chOff x="0" y="0"/>
            <a:chExt cx="4601055" cy="460105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601055" cy="4601055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48900" tIns="48900" rIns="48900" bIns="48900" rtlCol="0" anchor="ctr"/>
              <a:lstStyle/>
              <a:p>
                <a:pPr marL="0" lvl="0" indent="0" algn="ctr">
                  <a:lnSpc>
                    <a:spcPts val="81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1373183" y="984916"/>
              <a:ext cx="1854690" cy="2517079"/>
            </a:xfrm>
            <a:custGeom>
              <a:avLst/>
              <a:gdLst/>
              <a:ahLst/>
              <a:cxnLst/>
              <a:rect l="l" t="t" r="r" b="b"/>
              <a:pathLst>
                <a:path w="1854690" h="2517079">
                  <a:moveTo>
                    <a:pt x="0" y="0"/>
                  </a:moveTo>
                  <a:lnTo>
                    <a:pt x="1854689" y="0"/>
                  </a:lnTo>
                  <a:lnTo>
                    <a:pt x="1854689" y="2517079"/>
                  </a:lnTo>
                  <a:lnTo>
                    <a:pt x="0" y="2517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4938105"/>
            <a:ext cx="11808496" cy="180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013" lvl="1" indent="-373507" algn="just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 não usado estrategicamente p</a:t>
            </a:r>
            <a:r>
              <a:rPr lang="en-US" sz="3459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ode resultar em paragens imprevistas quando uma peça crítica de um conjunto de equipamentos falha.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31471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Corretiva</a:t>
                </a:r>
              </a:p>
              <a:p>
                <a:pPr algn="ctr">
                  <a:lnSpc>
                    <a:spcPts val="2239"/>
                  </a:lnSpc>
                </a:pPr>
                <a:endParaRPr lang="en-US" sz="15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3530574" y="3306404"/>
            <a:ext cx="2486501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Vantagens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721" y="4054135"/>
            <a:ext cx="7198209" cy="169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Menor custo inicial</a:t>
            </a:r>
          </a:p>
          <a:p>
            <a:pPr marL="561341" lvl="1" indent="-280670" algn="just">
              <a:lnSpc>
                <a:spcPts val="4602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Ideal para equipamentos com baixa criticidade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54182" y="3306404"/>
            <a:ext cx="3304818" cy="58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Desvantagens</a:t>
            </a:r>
            <a:endParaRPr lang="en-US" sz="345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90021" y="4054135"/>
            <a:ext cx="7823259" cy="228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Maior risco de paradas não planejadas</a:t>
            </a:r>
          </a:p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Custos de reparo mais altos no longo prazo</a:t>
            </a:r>
          </a:p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Redução da vida útil dos ativos</a:t>
            </a:r>
          </a:p>
          <a:p>
            <a:pPr marL="561340" lvl="1" indent="-280670" algn="just">
              <a:lnSpc>
                <a:spcPts val="4602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Impacto na produtividade e segurança.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76652" y="962025"/>
            <a:ext cx="2462748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Corretiva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7032742"/>
            <a:ext cx="6508516" cy="6508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17293" y="8793662"/>
            <a:ext cx="4018273" cy="40182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98832" y="-4757497"/>
            <a:ext cx="5786197" cy="57861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493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623" y="360702"/>
            <a:ext cx="17027045" cy="9217802"/>
            <a:chOff x="0" y="0"/>
            <a:chExt cx="4484489" cy="24277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4489" cy="2427734"/>
            </a:xfrm>
            <a:custGeom>
              <a:avLst/>
              <a:gdLst/>
              <a:ahLst/>
              <a:cxnLst/>
              <a:rect l="l" t="t" r="r" b="b"/>
              <a:pathLst>
                <a:path w="4484489" h="2427734">
                  <a:moveTo>
                    <a:pt x="0" y="0"/>
                  </a:moveTo>
                  <a:lnTo>
                    <a:pt x="4484489" y="0"/>
                  </a:lnTo>
                  <a:lnTo>
                    <a:pt x="4484489" y="2427734"/>
                  </a:lnTo>
                  <a:lnTo>
                    <a:pt x="0" y="242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484489" cy="2456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16982" y="5435851"/>
            <a:ext cx="1877371" cy="1873957"/>
          </a:xfrm>
          <a:custGeom>
            <a:avLst/>
            <a:gdLst/>
            <a:ahLst/>
            <a:cxnLst/>
            <a:rect l="l" t="t" r="r" b="b"/>
            <a:pathLst>
              <a:path w="1877371" h="1873957">
                <a:moveTo>
                  <a:pt x="0" y="0"/>
                </a:moveTo>
                <a:lnTo>
                  <a:pt x="1877370" y="0"/>
                </a:lnTo>
                <a:lnTo>
                  <a:pt x="1877370" y="1873958"/>
                </a:lnTo>
                <a:lnTo>
                  <a:pt x="0" y="187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5" name="Group 15"/>
          <p:cNvGrpSpPr/>
          <p:nvPr/>
        </p:nvGrpSpPr>
        <p:grpSpPr>
          <a:xfrm rot="2700000">
            <a:off x="8268218" y="5522329"/>
            <a:ext cx="1751564" cy="175156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9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0871" tIns="30871" rIns="30871" bIns="30871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5037" y="4610684"/>
            <a:ext cx="3450791" cy="34507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470433" y="4610684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AutoShape 22"/>
          <p:cNvSpPr/>
          <p:nvPr/>
        </p:nvSpPr>
        <p:spPr>
          <a:xfrm flipH="1">
            <a:off x="4470433" y="7550301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3" name="Group 23"/>
          <p:cNvGrpSpPr/>
          <p:nvPr/>
        </p:nvGrpSpPr>
        <p:grpSpPr>
          <a:xfrm>
            <a:off x="12092172" y="4610684"/>
            <a:ext cx="3450791" cy="345079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13817567" y="4610684"/>
            <a:ext cx="0" cy="61561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7" name="AutoShape 27"/>
          <p:cNvSpPr/>
          <p:nvPr/>
        </p:nvSpPr>
        <p:spPr>
          <a:xfrm>
            <a:off x="13817567" y="7550301"/>
            <a:ext cx="0" cy="10221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" name="AutoShape 28"/>
          <p:cNvSpPr/>
          <p:nvPr/>
        </p:nvSpPr>
        <p:spPr>
          <a:xfrm>
            <a:off x="5869072" y="6398111"/>
            <a:ext cx="2462870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9" name="AutoShape 29"/>
          <p:cNvSpPr/>
          <p:nvPr/>
        </p:nvSpPr>
        <p:spPr>
          <a:xfrm>
            <a:off x="9830178" y="6398111"/>
            <a:ext cx="2261993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0" name="Freeform 30"/>
          <p:cNvSpPr/>
          <p:nvPr/>
        </p:nvSpPr>
        <p:spPr>
          <a:xfrm>
            <a:off x="8796246" y="5942103"/>
            <a:ext cx="695509" cy="943905"/>
          </a:xfrm>
          <a:custGeom>
            <a:avLst/>
            <a:gdLst/>
            <a:ahLst/>
            <a:cxnLst/>
            <a:rect l="l" t="t" r="r" b="b"/>
            <a:pathLst>
              <a:path w="695509" h="943905">
                <a:moveTo>
                  <a:pt x="0" y="0"/>
                </a:moveTo>
                <a:lnTo>
                  <a:pt x="695508" y="0"/>
                </a:lnTo>
                <a:lnTo>
                  <a:pt x="695508" y="943904"/>
                </a:lnTo>
                <a:lnTo>
                  <a:pt x="0" y="94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31" name="Freeform 31"/>
          <p:cNvSpPr/>
          <p:nvPr/>
        </p:nvSpPr>
        <p:spPr>
          <a:xfrm>
            <a:off x="3787061" y="5645781"/>
            <a:ext cx="1380597" cy="1380597"/>
          </a:xfrm>
          <a:custGeom>
            <a:avLst/>
            <a:gdLst/>
            <a:ahLst/>
            <a:cxnLst/>
            <a:rect l="l" t="t" r="r" b="b"/>
            <a:pathLst>
              <a:path w="1380597" h="1380597">
                <a:moveTo>
                  <a:pt x="0" y="0"/>
                </a:moveTo>
                <a:lnTo>
                  <a:pt x="1380597" y="0"/>
                </a:lnTo>
                <a:lnTo>
                  <a:pt x="1380597" y="1380597"/>
                </a:lnTo>
                <a:lnTo>
                  <a:pt x="0" y="1380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2" name="Freeform 32"/>
          <p:cNvSpPr/>
          <p:nvPr/>
        </p:nvSpPr>
        <p:spPr>
          <a:xfrm>
            <a:off x="13127269" y="5698003"/>
            <a:ext cx="1380597" cy="1380597"/>
          </a:xfrm>
          <a:custGeom>
            <a:avLst/>
            <a:gdLst/>
            <a:ahLst/>
            <a:cxnLst/>
            <a:rect l="l" t="t" r="r" b="b"/>
            <a:pathLst>
              <a:path w="1380597" h="1380597">
                <a:moveTo>
                  <a:pt x="0" y="0"/>
                </a:moveTo>
                <a:lnTo>
                  <a:pt x="1380597" y="0"/>
                </a:lnTo>
                <a:lnTo>
                  <a:pt x="1380597" y="1380597"/>
                </a:lnTo>
                <a:lnTo>
                  <a:pt x="0" y="1380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3" name="TextBox 33"/>
          <p:cNvSpPr txBox="1"/>
          <p:nvPr/>
        </p:nvSpPr>
        <p:spPr>
          <a:xfrm>
            <a:off x="3302808" y="3300046"/>
            <a:ext cx="2349103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Planeada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077990" y="3300046"/>
            <a:ext cx="3479155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Não Planeada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30157" y="819150"/>
            <a:ext cx="15027686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Corretiva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21252" y="4922140"/>
            <a:ext cx="1845496" cy="42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4"/>
              </a:lnSpc>
            </a:pPr>
            <a:r>
              <a:rPr lang="en-US" sz="2510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Corretiva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314864" y="2219143"/>
            <a:ext cx="1364998" cy="1362516"/>
          </a:xfrm>
          <a:custGeom>
            <a:avLst/>
            <a:gdLst/>
            <a:ahLst/>
            <a:cxnLst/>
            <a:rect l="l" t="t" r="r" b="b"/>
            <a:pathLst>
              <a:path w="1364998" h="1362516">
                <a:moveTo>
                  <a:pt x="0" y="0"/>
                </a:moveTo>
                <a:lnTo>
                  <a:pt x="1364998" y="0"/>
                </a:lnTo>
                <a:lnTo>
                  <a:pt x="1364998" y="1362516"/>
                </a:lnTo>
                <a:lnTo>
                  <a:pt x="0" y="1362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>
            <a:off x="11917588" y="1820626"/>
            <a:ext cx="2159549" cy="215954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084424" y="1934268"/>
            <a:ext cx="2159549" cy="215954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4660789" y="2510634"/>
            <a:ext cx="1006818" cy="1006818"/>
          </a:xfrm>
          <a:custGeom>
            <a:avLst/>
            <a:gdLst/>
            <a:ahLst/>
            <a:cxnLst/>
            <a:rect l="l" t="t" r="r" b="b"/>
            <a:pathLst>
              <a:path w="1006818" h="1006818">
                <a:moveTo>
                  <a:pt x="0" y="0"/>
                </a:moveTo>
                <a:lnTo>
                  <a:pt x="1006819" y="0"/>
                </a:lnTo>
                <a:lnTo>
                  <a:pt x="1006819" y="1006818"/>
                </a:lnTo>
                <a:lnTo>
                  <a:pt x="0" y="1006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/>
          <p:cNvSpPr/>
          <p:nvPr/>
        </p:nvSpPr>
        <p:spPr>
          <a:xfrm>
            <a:off x="12493953" y="2396992"/>
            <a:ext cx="1006818" cy="1006818"/>
          </a:xfrm>
          <a:custGeom>
            <a:avLst/>
            <a:gdLst/>
            <a:ahLst/>
            <a:cxnLst/>
            <a:rect l="l" t="t" r="r" b="b"/>
            <a:pathLst>
              <a:path w="1006818" h="1006818">
                <a:moveTo>
                  <a:pt x="0" y="0"/>
                </a:moveTo>
                <a:lnTo>
                  <a:pt x="1006819" y="0"/>
                </a:lnTo>
                <a:lnTo>
                  <a:pt x="1006819" y="1006818"/>
                </a:lnTo>
                <a:lnTo>
                  <a:pt x="0" y="1006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TextBox 24"/>
          <p:cNvSpPr txBox="1"/>
          <p:nvPr/>
        </p:nvSpPr>
        <p:spPr>
          <a:xfrm>
            <a:off x="11248926" y="971550"/>
            <a:ext cx="3496873" cy="51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0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Não planeada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2208" y="4577146"/>
            <a:ext cx="6430310" cy="16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Acontece em caráter emergencial após a interrupção do processo produtivo.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13514" y="6771526"/>
            <a:ext cx="4967697" cy="180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Ex: Ocasionada pela falha ou quebra de determinado ativo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36594" y="6771526"/>
            <a:ext cx="5655209" cy="241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</a:pPr>
            <a:r>
              <a:rPr lang="en-US" sz="34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Ex: Quando a Empresa já possui um estoque de peças ou maquinários de reposição.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37867" y="1082114"/>
            <a:ext cx="3052663" cy="51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0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Planeada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36594" y="4577146"/>
            <a:ext cx="5655209" cy="16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1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É realizada com antecedência antes do equipamento avariar.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52305" y="-4782743"/>
            <a:ext cx="21641848" cy="19245813"/>
            <a:chOff x="0" y="0"/>
            <a:chExt cx="28855797" cy="2566108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380691" y="16983062"/>
              <a:ext cx="8678022" cy="867802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2745037" y="4641514"/>
            <a:ext cx="3450791" cy="345079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88596" y="4660564"/>
            <a:ext cx="3450791" cy="34507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18604" y="4660564"/>
            <a:ext cx="3450791" cy="345079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A5493A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8392274" y="5472309"/>
            <a:ext cx="1789202" cy="1789202"/>
          </a:xfrm>
          <a:custGeom>
            <a:avLst/>
            <a:gdLst/>
            <a:ahLst/>
            <a:cxnLst/>
            <a:rect l="l" t="t" r="r" b="b"/>
            <a:pathLst>
              <a:path w="1789202" h="1789202">
                <a:moveTo>
                  <a:pt x="0" y="0"/>
                </a:moveTo>
                <a:lnTo>
                  <a:pt x="1789202" y="0"/>
                </a:lnTo>
                <a:lnTo>
                  <a:pt x="1789202" y="1789202"/>
                </a:lnTo>
                <a:lnTo>
                  <a:pt x="0" y="1789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Freeform 25"/>
          <p:cNvSpPr/>
          <p:nvPr/>
        </p:nvSpPr>
        <p:spPr>
          <a:xfrm>
            <a:off x="3529832" y="5407260"/>
            <a:ext cx="1881201" cy="1881201"/>
          </a:xfrm>
          <a:custGeom>
            <a:avLst/>
            <a:gdLst/>
            <a:ahLst/>
            <a:cxnLst/>
            <a:rect l="l" t="t" r="r" b="b"/>
            <a:pathLst>
              <a:path w="1881201" h="1881201">
                <a:moveTo>
                  <a:pt x="0" y="0"/>
                </a:moveTo>
                <a:lnTo>
                  <a:pt x="1881201" y="0"/>
                </a:lnTo>
                <a:lnTo>
                  <a:pt x="1881201" y="1881201"/>
                </a:lnTo>
                <a:lnTo>
                  <a:pt x="0" y="1881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Freeform 26"/>
          <p:cNvSpPr/>
          <p:nvPr/>
        </p:nvSpPr>
        <p:spPr>
          <a:xfrm>
            <a:off x="13017820" y="5551689"/>
            <a:ext cx="1592342" cy="1592342"/>
          </a:xfrm>
          <a:custGeom>
            <a:avLst/>
            <a:gdLst/>
            <a:ahLst/>
            <a:cxnLst/>
            <a:rect l="l" t="t" r="r" b="b"/>
            <a:pathLst>
              <a:path w="1592342" h="1592342">
                <a:moveTo>
                  <a:pt x="0" y="0"/>
                </a:moveTo>
                <a:lnTo>
                  <a:pt x="1592342" y="0"/>
                </a:lnTo>
                <a:lnTo>
                  <a:pt x="1592342" y="1592342"/>
                </a:lnTo>
                <a:lnTo>
                  <a:pt x="0" y="1592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464246" y="819150"/>
            <a:ext cx="15359509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Manutenção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52218" y="3299992"/>
            <a:ext cx="2620099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Detectiva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237572" y="2997414"/>
            <a:ext cx="5152838" cy="129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372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Manutenção</a:t>
            </a:r>
            <a:r>
              <a:rPr lang="en-US" sz="3720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372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Produtiva</a:t>
            </a:r>
            <a:r>
              <a:rPr lang="en-US" sz="3720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Total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88518" y="3299992"/>
            <a:ext cx="2757366" cy="627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3721" b="1" u="none" strike="noStrike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Prescritiva</a:t>
            </a:r>
            <a:endParaRPr lang="en-US" sz="3721" b="1" u="none" strike="noStrike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7788473" y="962025"/>
            <a:ext cx="2803327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Prescritiva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1864657"/>
            <a:ext cx="16230600" cy="11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manutenção prescritiva é um nível mais avançado de manutenção, que vai além da manutenção preditiva.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335909"/>
            <a:ext cx="16230600" cy="175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Ela não apenas identifica possíveis falhas futuras, mas também recomenda ações específicas para evitar esses problemas e otimizar o desempenho do equipamento.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30574" y="5160912"/>
            <a:ext cx="2486501" cy="5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Vantagens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54182" y="5160912"/>
            <a:ext cx="3381018" cy="588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3"/>
              </a:lnSpc>
              <a:spcBef>
                <a:spcPct val="0"/>
              </a:spcBef>
            </a:pPr>
            <a:r>
              <a:rPr lang="en-US" sz="345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Desvantagens</a:t>
            </a:r>
            <a:endParaRPr lang="en-US" sz="345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28700" y="6092203"/>
            <a:ext cx="15792538" cy="3297936"/>
            <a:chOff x="0" y="0"/>
            <a:chExt cx="21056718" cy="4397248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142875"/>
              <a:ext cx="9597612" cy="4540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4602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Maior confiabilidade e eficiência dos equipamentos</a:t>
              </a:r>
            </a:p>
            <a:p>
              <a:pPr marL="561341" lvl="1" indent="-280670" algn="just">
                <a:lnSpc>
                  <a:spcPts val="4602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Redução de custos e otimização da produção</a:t>
              </a:r>
            </a:p>
            <a:p>
              <a:pPr marL="561341" lvl="1" indent="-280670" algn="just">
                <a:lnSpc>
                  <a:spcPts val="4602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Maior retorno sobre investimento em manutenção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25706" y="-21336"/>
              <a:ext cx="10431012" cy="2216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46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Tecnologia em desenvolvimento e alto custo inicial</a:t>
              </a:r>
            </a:p>
            <a:p>
              <a:pPr marL="561341" lvl="1" indent="-280670" algn="just">
                <a:lnSpc>
                  <a:spcPts val="46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00" u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Necessidade de mão de obra especializada.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52305" y="-4782743"/>
            <a:ext cx="21641848" cy="19245813"/>
            <a:chOff x="0" y="0"/>
            <a:chExt cx="28855797" cy="2566108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380691" y="16983062"/>
              <a:ext cx="8678022" cy="867802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2745037" y="4641514"/>
            <a:ext cx="3450791" cy="345079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A5493A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88596" y="4660564"/>
            <a:ext cx="3450791" cy="34507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18604" y="4660564"/>
            <a:ext cx="3450791" cy="345079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8392274" y="5472309"/>
            <a:ext cx="1789202" cy="1789202"/>
          </a:xfrm>
          <a:custGeom>
            <a:avLst/>
            <a:gdLst/>
            <a:ahLst/>
            <a:cxnLst/>
            <a:rect l="l" t="t" r="r" b="b"/>
            <a:pathLst>
              <a:path w="1789202" h="1789202">
                <a:moveTo>
                  <a:pt x="0" y="0"/>
                </a:moveTo>
                <a:lnTo>
                  <a:pt x="1789202" y="0"/>
                </a:lnTo>
                <a:lnTo>
                  <a:pt x="1789202" y="1789202"/>
                </a:lnTo>
                <a:lnTo>
                  <a:pt x="0" y="1789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Freeform 25"/>
          <p:cNvSpPr/>
          <p:nvPr/>
        </p:nvSpPr>
        <p:spPr>
          <a:xfrm>
            <a:off x="3529832" y="5407260"/>
            <a:ext cx="1881201" cy="1881201"/>
          </a:xfrm>
          <a:custGeom>
            <a:avLst/>
            <a:gdLst/>
            <a:ahLst/>
            <a:cxnLst/>
            <a:rect l="l" t="t" r="r" b="b"/>
            <a:pathLst>
              <a:path w="1881201" h="1881201">
                <a:moveTo>
                  <a:pt x="0" y="0"/>
                </a:moveTo>
                <a:lnTo>
                  <a:pt x="1881201" y="0"/>
                </a:lnTo>
                <a:lnTo>
                  <a:pt x="1881201" y="1881201"/>
                </a:lnTo>
                <a:lnTo>
                  <a:pt x="0" y="1881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Freeform 26"/>
          <p:cNvSpPr/>
          <p:nvPr/>
        </p:nvSpPr>
        <p:spPr>
          <a:xfrm>
            <a:off x="13017820" y="5551689"/>
            <a:ext cx="1592342" cy="1592342"/>
          </a:xfrm>
          <a:custGeom>
            <a:avLst/>
            <a:gdLst/>
            <a:ahLst/>
            <a:cxnLst/>
            <a:rect l="l" t="t" r="r" b="b"/>
            <a:pathLst>
              <a:path w="1592342" h="1592342">
                <a:moveTo>
                  <a:pt x="0" y="0"/>
                </a:moveTo>
                <a:lnTo>
                  <a:pt x="1592342" y="0"/>
                </a:lnTo>
                <a:lnTo>
                  <a:pt x="1592342" y="1592342"/>
                </a:lnTo>
                <a:lnTo>
                  <a:pt x="0" y="1592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464246" y="819150"/>
            <a:ext cx="15359509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Manutenção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52218" y="3299992"/>
            <a:ext cx="2538982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Detectiva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237572" y="2997414"/>
            <a:ext cx="5152838" cy="129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372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Manutenção</a:t>
            </a:r>
            <a:r>
              <a:rPr lang="en-US" sz="3720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372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Produtiva</a:t>
            </a:r>
            <a:r>
              <a:rPr lang="en-US" sz="3720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Total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88518" y="3299992"/>
            <a:ext cx="2757366" cy="627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3721" b="1" u="none" strike="noStrike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Prescritiva</a:t>
            </a:r>
            <a:endParaRPr lang="en-US" sz="3721" b="1" u="none" strike="noStrike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Teste de alarmes de incêndio e sensores de fumaça.</a:t>
                </a:r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7922716" y="962025"/>
            <a:ext cx="2592884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Detectiva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1864657"/>
            <a:ext cx="16230600" cy="175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manutenção detectiva é um tipo de manutenção focada em identificar falhas ocultas ou que não são facilmente perceptíveis em sistemas, equipamentos ou processos.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332519"/>
            <a:ext cx="16230600" cy="234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Exemplo: </a:t>
            </a:r>
          </a:p>
          <a:p>
            <a:pPr marL="725424" lvl="1" indent="-362712" algn="just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alarmes de incêndio e sensores de fumaça.</a:t>
            </a:r>
          </a:p>
          <a:p>
            <a:pPr marL="725424" lvl="1" indent="-362712" algn="just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válvulas de segurança em sistemas pressurizados.</a:t>
            </a:r>
          </a:p>
          <a:p>
            <a:pPr marL="725424" lvl="1" indent="-362712" algn="just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Inspeção de dispositivos de bloqueio e emergência.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893863"/>
            <a:ext cx="16230600" cy="11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Esse tipo de manutenção é muito comum em sistemas de segurança, proteções automáticas e dispositivos críticos.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52305" y="-4782743"/>
            <a:ext cx="21641848" cy="19245813"/>
            <a:chOff x="0" y="0"/>
            <a:chExt cx="28855797" cy="2566108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380691" y="16983062"/>
              <a:ext cx="8678022" cy="867802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2745037" y="4641514"/>
            <a:ext cx="3450791" cy="345079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88596" y="4660564"/>
            <a:ext cx="3450791" cy="34507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A5493A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18604" y="4660564"/>
            <a:ext cx="3450791" cy="345079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8900" tIns="48900" rIns="48900" bIns="489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8392274" y="5472309"/>
            <a:ext cx="1789202" cy="1789202"/>
          </a:xfrm>
          <a:custGeom>
            <a:avLst/>
            <a:gdLst/>
            <a:ahLst/>
            <a:cxnLst/>
            <a:rect l="l" t="t" r="r" b="b"/>
            <a:pathLst>
              <a:path w="1789202" h="1789202">
                <a:moveTo>
                  <a:pt x="0" y="0"/>
                </a:moveTo>
                <a:lnTo>
                  <a:pt x="1789202" y="0"/>
                </a:lnTo>
                <a:lnTo>
                  <a:pt x="1789202" y="1789202"/>
                </a:lnTo>
                <a:lnTo>
                  <a:pt x="0" y="1789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Freeform 25"/>
          <p:cNvSpPr/>
          <p:nvPr/>
        </p:nvSpPr>
        <p:spPr>
          <a:xfrm>
            <a:off x="3529832" y="5407260"/>
            <a:ext cx="1881201" cy="1881201"/>
          </a:xfrm>
          <a:custGeom>
            <a:avLst/>
            <a:gdLst/>
            <a:ahLst/>
            <a:cxnLst/>
            <a:rect l="l" t="t" r="r" b="b"/>
            <a:pathLst>
              <a:path w="1881201" h="1881201">
                <a:moveTo>
                  <a:pt x="0" y="0"/>
                </a:moveTo>
                <a:lnTo>
                  <a:pt x="1881201" y="0"/>
                </a:lnTo>
                <a:lnTo>
                  <a:pt x="1881201" y="1881201"/>
                </a:lnTo>
                <a:lnTo>
                  <a:pt x="0" y="1881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Freeform 26"/>
          <p:cNvSpPr/>
          <p:nvPr/>
        </p:nvSpPr>
        <p:spPr>
          <a:xfrm>
            <a:off x="13017820" y="5551689"/>
            <a:ext cx="1592342" cy="1592342"/>
          </a:xfrm>
          <a:custGeom>
            <a:avLst/>
            <a:gdLst/>
            <a:ahLst/>
            <a:cxnLst/>
            <a:rect l="l" t="t" r="r" b="b"/>
            <a:pathLst>
              <a:path w="1592342" h="1592342">
                <a:moveTo>
                  <a:pt x="0" y="0"/>
                </a:moveTo>
                <a:lnTo>
                  <a:pt x="1592342" y="0"/>
                </a:lnTo>
                <a:lnTo>
                  <a:pt x="1592342" y="1592342"/>
                </a:lnTo>
                <a:lnTo>
                  <a:pt x="0" y="1592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464246" y="819150"/>
            <a:ext cx="15359509" cy="181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4"/>
              </a:lnSpc>
            </a:pPr>
            <a:r>
              <a:rPr lang="en-US" sz="1058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Tipos de Manutenção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52218" y="3299992"/>
            <a:ext cx="2620099" cy="629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Detectiva</a:t>
            </a:r>
            <a:endParaRPr lang="en-US" sz="3721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237572" y="2997414"/>
            <a:ext cx="5152838" cy="129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372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Manutenção</a:t>
            </a:r>
            <a:r>
              <a:rPr lang="en-US" sz="3720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372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Produtiva</a:t>
            </a:r>
            <a:r>
              <a:rPr lang="en-US" sz="3720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Total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88518" y="3299992"/>
            <a:ext cx="2757366" cy="627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3721" b="1" u="none" strike="noStrike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Prescritiva</a:t>
            </a:r>
            <a:endParaRPr lang="en-US" sz="3721" b="1" u="none" strike="noStrike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Teste de alarmes de incêndio e sensores de fumaça.</a:t>
                </a:r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5559772" y="962025"/>
            <a:ext cx="7168455" cy="62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3721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Manutenção Produtiva Total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864657"/>
            <a:ext cx="16230600" cy="116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  <a:spcBef>
                <a:spcPct val="0"/>
              </a:spcBef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TPM busca maximizar a eficiência produtiva, envolvendo operadores na manutenção para evitar falhas e aumentar a vida útil dos equipamentos.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303313"/>
            <a:ext cx="16230600" cy="3524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3"/>
              </a:lnSpc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Exemplo:</a:t>
            </a:r>
          </a:p>
          <a:p>
            <a:pPr algn="just">
              <a:lnSpc>
                <a:spcPts val="4703"/>
              </a:lnSpc>
            </a:pPr>
            <a:endParaRPr lang="en-US" sz="335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703"/>
              </a:lnSpc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 fábricas como Toyota e Honda, os próprios operadores das máquinas realizam inspeções diárias básicas, como lubrificação e ajustes simples, antes que um técnico especializado precise intervir. Isso reduz paradas inesperadas.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6818" y="-4757497"/>
            <a:ext cx="21641848" cy="18298756"/>
            <a:chOff x="0" y="0"/>
            <a:chExt cx="28855797" cy="2439834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720319"/>
              <a:ext cx="8678022" cy="867802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32148" y="18068213"/>
              <a:ext cx="5357698" cy="535769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140868" y="0"/>
              <a:ext cx="7714930" cy="771493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5493A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917921" y="6824266"/>
              <a:ext cx="22702727" cy="12290403"/>
              <a:chOff x="0" y="0"/>
              <a:chExt cx="4484489" cy="24277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484489" cy="2427734"/>
              </a:xfrm>
              <a:custGeom>
                <a:avLst/>
                <a:gdLst/>
                <a:ahLst/>
                <a:cxnLst/>
                <a:rect l="l" t="t" r="r" b="b"/>
                <a:pathLst>
                  <a:path w="4484489" h="2427734">
                    <a:moveTo>
                      <a:pt x="0" y="0"/>
                    </a:moveTo>
                    <a:lnTo>
                      <a:pt x="4484489" y="0"/>
                    </a:lnTo>
                    <a:lnTo>
                      <a:pt x="4484489" y="2427734"/>
                    </a:lnTo>
                    <a:lnTo>
                      <a:pt x="0" y="24277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484489" cy="24563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599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Teste de alarmes de incêndio e sensores de fumaça.</a:t>
                </a:r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6222728" y="2403632"/>
            <a:ext cx="5969271" cy="1415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07"/>
              </a:lnSpc>
            </a:pPr>
            <a:r>
              <a:rPr lang="en-US" sz="8290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Conclusão</a:t>
            </a:r>
            <a:endParaRPr lang="en-US" sz="8290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4233672"/>
            <a:ext cx="16230600" cy="175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3"/>
              </a:lnSpc>
            </a:pPr>
            <a:r>
              <a:rPr lang="en-US" sz="335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É importante saber sobre os tipos de manutenção para garantir o bom funcionamento, a segurança e a eficiência de máquinas, equipamentos e sistemas.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91451" y="6049325"/>
            <a:ext cx="1735697" cy="4114800"/>
          </a:xfrm>
          <a:custGeom>
            <a:avLst/>
            <a:gdLst/>
            <a:ahLst/>
            <a:cxnLst/>
            <a:rect l="l" t="t" r="r" b="b"/>
            <a:pathLst>
              <a:path w="1735697" h="4114800">
                <a:moveTo>
                  <a:pt x="0" y="0"/>
                </a:moveTo>
                <a:lnTo>
                  <a:pt x="1735698" y="0"/>
                </a:lnTo>
                <a:lnTo>
                  <a:pt x="1735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653198" y="1000125"/>
            <a:ext cx="3725736" cy="192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manutenção é um conjunto de ações que visam conservar, reparar e restaurar máquinas, equipamentos, sistemas e instalações para garantir sua funcionalidade, confiabilidade e segurança ao longo de seu ciclo de vida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198" y="340430"/>
            <a:ext cx="1677309" cy="34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0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3198" y="3226435"/>
            <a:ext cx="3328273" cy="34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 da Manutenção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6657" y="3888738"/>
            <a:ext cx="246495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Maximizar a rentabilidade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657" y="4467223"/>
            <a:ext cx="1363385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Confiabilidade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6657" y="5045708"/>
            <a:ext cx="16621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Manutenibilidade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6657" y="5624193"/>
            <a:ext cx="147423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Disponibilidade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6657" y="6202678"/>
            <a:ext cx="206978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Otimização de custos: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657" y="6781163"/>
            <a:ext cx="2809399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Lucratividade e rentabilidade: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53391" y="340430"/>
            <a:ext cx="4580405" cy="34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05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Importância da Manutenção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3391" y="1002733"/>
            <a:ext cx="4580405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 importante para garantir o bom funcionamento, a segurança e a eficiência de máquinas, equipamentos e sistemas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53391" y="2133668"/>
            <a:ext cx="4580405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Prevenção de falhas e redução de custos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62456" y="2657475"/>
            <a:ext cx="378154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Aumento da vida útil dos equipamentos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62456" y="3273106"/>
            <a:ext cx="3394829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Segurança no ambiente de trabalho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3391" y="3888738"/>
            <a:ext cx="303930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Maior eficiência e produtividade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62456" y="4467223"/>
            <a:ext cx="425529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Cumprimento de normas e regulamentações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62456" y="4999035"/>
            <a:ext cx="2848332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sz="20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Tipos de Manutenção: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53540" y="5591173"/>
            <a:ext cx="279409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 Preventiva: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80682" y="5955665"/>
            <a:ext cx="4580405" cy="330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1 - Sistemática: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Intervalo fixo (ex: troca de óleo a cada 5.000 km).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2- </a:t>
            </a: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Baseada no uso: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Depende do uso do equipamento (ex: lubrificação após X horas de operação).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Vantagens: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Maior confiabilidade dos equipamentos, menor risco de paradas não planejadas, redução de custos com reparos emergenciais, maior vida útil dos ativos.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Desvantagens: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Pode ser mais custosa do que a corretiva no curto prazo, requer planejamento e acompanhamento rigorosos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47408" y="391227"/>
            <a:ext cx="256139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 Corretiva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269" y="910975"/>
            <a:ext cx="6901087" cy="219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1- Planejada: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Falha detectada com antecedência (ex: aviso de sobrecarga).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2 - Não planejada: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Falha inesperada (ex: quebra de peça).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Vantagens: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Menor custo inicial, ideal para equipamentos com baixa criticidade.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Desvantagens: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Maior risco de paradas não planejadas, custos de reparo mais altos no longo prazo, redução da vida útil dos ativos, impacto na produtividade e segurança.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47408" y="3411535"/>
            <a:ext cx="259437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 Preditiva: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76269" y="3974463"/>
            <a:ext cx="6929948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Técnicas: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Análise de vibração, termografia, análise de óleo.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Vantagens: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Permite ações proativas para evitar falhas, otimiza a gestão de recursos e tempo, maximiza a vida útil dos equipamentos, reduz custos de manutenção e operação.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Desvantagens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Requer investimento em tecnologia e expertise, nem todos os equipamentos são compatíveis.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47408" y="5886448"/>
            <a:ext cx="27838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 Prescritiva: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76269" y="6320471"/>
            <a:ext cx="5344043" cy="330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Características: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Otimização de parâmetros de operação.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Previsão precisa de falhas e vida útil.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Recomendações personalizadas para cada equipamento.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Vantagens: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Maior confiabilidade e eficiência dos equipamentos.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Redução de custos e otimização da produção.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Maior retorno sobre investimento em manutenção.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Desvantagens: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Tecnologia em desenvolvimento e alto custo inicial.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Necessidade de mão de obra especializada.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953" y="588374"/>
            <a:ext cx="6272064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 Detectiva (Identificação de falhas ocultas)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00125"/>
            <a:ext cx="6272570" cy="136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Esse tipo de manutenção é usado para encontrar falhas que não são facilmente perceptíveis e que podem comprometer a segurança ou funcionamento do sistema.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🔹 Exemplo 1: Testes em sistemas de alarme de incêndio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50127"/>
            <a:ext cx="6272570" cy="282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Manutenção Produtiva Total (TPM) (Envolvimento de toda a equipe na manutenção)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TPM busca maximizar a eficiência produtiva, envolvendo operadores na manutenção para evitar falhas e aumentar a vida útil dos equipamentos.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🔹 Exemplo 1: Indústria automobilística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Em fábricas como Toyota e Honda, os próprios operadores das máquinas realizam inspeções diárias básicas, como lubrificação e ajustes simples, antes que um técnico especializado precise intervir. Isso reduz paradas inesperadas.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043656"/>
            <a:ext cx="379833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blog.squair.io/pt/guia-completo-de-tipos-de-manuten%C3%A7%C3%A3o"/>
              </a:rPr>
              <a:t>Guia Completo de Tipos de Manutenção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584041"/>
            <a:ext cx="595526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sage.com/pt-pt/blog/tipos-de-manutencao-preventiva-correctiva-preditiva/"/>
              </a:rPr>
              <a:t>Tipos de manutenção para aumentar a eficiência | Sage Advice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124426"/>
            <a:ext cx="580042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www.produttivo.com.br/blog/manutencao-planejada/"/>
              </a:rPr>
              <a:t>Manutenção planejada: o que é, principais tipos e como fazer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1265</Words>
  <Application>Microsoft Office PowerPoint</Application>
  <PresentationFormat>Personalizar</PresentationFormat>
  <Paragraphs>204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8" baseType="lpstr">
      <vt:lpstr>DM Sans Bold</vt:lpstr>
      <vt:lpstr>Montserrat Ultra-Bold</vt:lpstr>
      <vt:lpstr>Montserrat Semi-Bold</vt:lpstr>
      <vt:lpstr>Montserrat Bold</vt:lpstr>
      <vt:lpstr>Open Sans Bold</vt:lpstr>
      <vt:lpstr>Montserrat</vt:lpstr>
      <vt:lpstr>Montserrat Medium</vt:lpstr>
      <vt:lpstr>Arial</vt:lpstr>
      <vt:lpstr>Open Sans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manutenção é um conjunto de ações que visam conservar, reparar e restaurar máquinas, equipamentos, sistemas e instalações para garantir sua funcionalidade, confiabilidade e segurança ao longo de seu ciclo de vida</dc:title>
  <cp:lastModifiedBy>Gustavo Sousa</cp:lastModifiedBy>
  <cp:revision>8</cp:revision>
  <dcterms:created xsi:type="dcterms:W3CDTF">2006-08-16T00:00:00Z</dcterms:created>
  <dcterms:modified xsi:type="dcterms:W3CDTF">2025-02-27T09:51:37Z</dcterms:modified>
  <dc:identifier>DAGfpvkeOWs</dc:identifier>
</cp:coreProperties>
</file>